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93f1b0bdf4f3c" /><Relationship Type="http://schemas.openxmlformats.org/officeDocument/2006/relationships/extended-properties" Target="/docProps/app.xml" Id="Ree4b0a54a7304c90" /><Relationship Type="http://schemas.openxmlformats.org/officeDocument/2006/relationships/officeDocument" Target="/ppt/presentation.xml" Id="R59237e0e10684f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526ab94334f3b"/>
  </p:sldMasterIdLst>
  <p:notesMasterIdLst>
    <p:notesMasterId xmlns:r="http://schemas.openxmlformats.org/officeDocument/2006/relationships" r:id="Rf740d637a54045f9"/>
  </p:notesMasterIdLst>
  <p:sldIdLst>
    <p:sldId xmlns:r="http://schemas.openxmlformats.org/officeDocument/2006/relationships" id="256" r:id="Rf39ef2fc53f04712"/>
    <p:sldId xmlns:r="http://schemas.openxmlformats.org/officeDocument/2006/relationships" id="257" r:id="R78159f13574b4249"/>
    <p:sldId xmlns:r="http://schemas.openxmlformats.org/officeDocument/2006/relationships" id="258" r:id="R8b57a645c53a4773"/>
    <p:sldId xmlns:r="http://schemas.openxmlformats.org/officeDocument/2006/relationships" id="259" r:id="R1b88edca1218439c"/>
    <p:sldId xmlns:r="http://schemas.openxmlformats.org/officeDocument/2006/relationships" id="260" r:id="Ra72d057140204617"/>
    <p:sldId xmlns:r="http://schemas.openxmlformats.org/officeDocument/2006/relationships" id="261" r:id="Rfae7b2edf5f54612"/>
    <p:sldId xmlns:r="http://schemas.openxmlformats.org/officeDocument/2006/relationships" id="262" r:id="Rea710bb173774cd1"/>
    <p:sldId xmlns:r="http://schemas.openxmlformats.org/officeDocument/2006/relationships" id="263" r:id="Rb818259c0b844a25"/>
    <p:sldId xmlns:r="http://schemas.openxmlformats.org/officeDocument/2006/relationships" id="264" r:id="Rb1bd285a61c44ede"/>
    <p:sldId xmlns:r="http://schemas.openxmlformats.org/officeDocument/2006/relationships" id="265" r:id="Rfbb6e994206640e5"/>
    <p:sldId xmlns:r="http://schemas.openxmlformats.org/officeDocument/2006/relationships" id="266" r:id="R74d12981c12f4251"/>
    <p:sldId xmlns:r="http://schemas.openxmlformats.org/officeDocument/2006/relationships" id="267" r:id="Rd5e4b3efc0824617"/>
    <p:sldId xmlns:r="http://schemas.openxmlformats.org/officeDocument/2006/relationships" id="268" r:id="R9dcb0f03711e4371"/>
    <p:sldId xmlns:r="http://schemas.openxmlformats.org/officeDocument/2006/relationships" id="269" r:id="R533a5ccb8f874a90"/>
    <p:sldId xmlns:r="http://schemas.openxmlformats.org/officeDocument/2006/relationships" id="270" r:id="Rd4e5dd94e0f140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e63b0f1c084807" /><Relationship Type="http://schemas.openxmlformats.org/officeDocument/2006/relationships/slideMaster" Target="/ppt/slideMasters/slideMaster1.xml" Id="R70b526ab94334f3b" /><Relationship Type="http://schemas.openxmlformats.org/officeDocument/2006/relationships/notesMaster" Target="/ppt/notesMasters/notesMaster1.xml" Id="Rf740d637a54045f9" /><Relationship Type="http://schemas.openxmlformats.org/officeDocument/2006/relationships/presProps" Target="/ppt/presProps.xml" Id="Rb5ac4aad41694895" /><Relationship Type="http://schemas.openxmlformats.org/officeDocument/2006/relationships/tableStyles" Target="/ppt/tableStyles.xml" Id="R52f9e7b12def4c71" /><Relationship Type="http://schemas.openxmlformats.org/officeDocument/2006/relationships/slide" Target="/ppt/slides/slide1.xml" Id="Rf39ef2fc53f04712" /><Relationship Type="http://schemas.openxmlformats.org/officeDocument/2006/relationships/slide" Target="/ppt/slides/slide2.xml" Id="R78159f13574b4249" /><Relationship Type="http://schemas.openxmlformats.org/officeDocument/2006/relationships/slide" Target="/ppt/slides/slide3.xml" Id="R8b57a645c53a4773" /><Relationship Type="http://schemas.openxmlformats.org/officeDocument/2006/relationships/slide" Target="/ppt/slides/slide4.xml" Id="R1b88edca1218439c" /><Relationship Type="http://schemas.openxmlformats.org/officeDocument/2006/relationships/slide" Target="/ppt/slides/slide5.xml" Id="Ra72d057140204617" /><Relationship Type="http://schemas.openxmlformats.org/officeDocument/2006/relationships/slide" Target="/ppt/slides/slide6.xml" Id="Rfae7b2edf5f54612" /><Relationship Type="http://schemas.openxmlformats.org/officeDocument/2006/relationships/slide" Target="/ppt/slides/slide7.xml" Id="Rea710bb173774cd1" /><Relationship Type="http://schemas.openxmlformats.org/officeDocument/2006/relationships/slide" Target="/ppt/slides/slide8.xml" Id="Rb818259c0b844a25" /><Relationship Type="http://schemas.openxmlformats.org/officeDocument/2006/relationships/slide" Target="/ppt/slides/slide9.xml" Id="Rb1bd285a61c44ede" /><Relationship Type="http://schemas.openxmlformats.org/officeDocument/2006/relationships/slide" Target="/ppt/slides/slide10.xml" Id="Rfbb6e994206640e5" /><Relationship Type="http://schemas.openxmlformats.org/officeDocument/2006/relationships/slide" Target="/ppt/slides/slide11.xml" Id="R74d12981c12f4251" /><Relationship Type="http://schemas.openxmlformats.org/officeDocument/2006/relationships/slide" Target="/ppt/slides/slide12.xml" Id="Rd5e4b3efc0824617" /><Relationship Type="http://schemas.openxmlformats.org/officeDocument/2006/relationships/slide" Target="/ppt/slides/slide13.xml" Id="R9dcb0f03711e4371" /><Relationship Type="http://schemas.openxmlformats.org/officeDocument/2006/relationships/slide" Target="/ppt/slides/slide14.xml" Id="R533a5ccb8f874a90" /><Relationship Type="http://schemas.openxmlformats.org/officeDocument/2006/relationships/slide" Target="/ppt/slides/slide15.xml" Id="Rd4e5dd94e0f1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106201ed69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1cdf71d638405b" /><Relationship Type="http://schemas.openxmlformats.org/officeDocument/2006/relationships/notesMaster" Target="/ppt/notesMasters/notesMaster1.xml" Id="R0e3703876bd24a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abc90403f406a" /><Relationship Type="http://schemas.openxmlformats.org/officeDocument/2006/relationships/notesMaster" Target="/ppt/notesMasters/notesMaster1.xml" Id="R4ef37c4daaee48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595c61d39744a9" /><Relationship Type="http://schemas.openxmlformats.org/officeDocument/2006/relationships/notesMaster" Target="/ppt/notesMasters/notesMaster1.xml" Id="Rb2f31866f5cf44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1e6b66539e4899" /><Relationship Type="http://schemas.openxmlformats.org/officeDocument/2006/relationships/notesMaster" Target="/ppt/notesMasters/notesMaster1.xml" Id="Rd1eadc17b9d542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1d2d65ecbe475b" /><Relationship Type="http://schemas.openxmlformats.org/officeDocument/2006/relationships/notesMaster" Target="/ppt/notesMasters/notesMaster1.xml" Id="Rf561013ebe064d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9efbe078c448c1" /><Relationship Type="http://schemas.openxmlformats.org/officeDocument/2006/relationships/notesMaster" Target="/ppt/notesMasters/notesMaster1.xml" Id="Rbd00b04a16c547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966ab7f9a24570" /><Relationship Type="http://schemas.openxmlformats.org/officeDocument/2006/relationships/notesMaster" Target="/ppt/notesMasters/notesMaster1.xml" Id="R7917ed1f84d747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89909f8b2145d4" /><Relationship Type="http://schemas.openxmlformats.org/officeDocument/2006/relationships/notesMaster" Target="/ppt/notesMasters/notesMaster1.xml" Id="R7cf95d13447f41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47956b89a243f6" /><Relationship Type="http://schemas.openxmlformats.org/officeDocument/2006/relationships/notesMaster" Target="/ppt/notesMasters/notesMaster1.xml" Id="R74ea90a4b23640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74dc8b7dba4125" /><Relationship Type="http://schemas.openxmlformats.org/officeDocument/2006/relationships/notesMaster" Target="/ppt/notesMasters/notesMaster1.xml" Id="R15d5bdd4bf914f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193395eafd4766" /><Relationship Type="http://schemas.openxmlformats.org/officeDocument/2006/relationships/notesMaster" Target="/ppt/notesMasters/notesMaster1.xml" Id="R04efc3da55114e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f32710944e4288" /><Relationship Type="http://schemas.openxmlformats.org/officeDocument/2006/relationships/notesMaster" Target="/ppt/notesMasters/notesMaster1.xml" Id="Rf6d5f449b34c4a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37628e403d4766" /><Relationship Type="http://schemas.openxmlformats.org/officeDocument/2006/relationships/notesMaster" Target="/ppt/notesMasters/notesMaster1.xml" Id="R70a565d2f6ab4d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da5a1c53f24e86" /><Relationship Type="http://schemas.openxmlformats.org/officeDocument/2006/relationships/notesMaster" Target="/ppt/notesMasters/notesMaster1.xml" Id="R9d634074799a43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ff0ad89cef4a65" /><Relationship Type="http://schemas.openxmlformats.org/officeDocument/2006/relationships/notesMaster" Target="/ppt/notesMasters/notesMaster1.xml" Id="Rcc6c02b59af049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Ask: ‘Who has ever seen a picture or answer online that looked real but felt a little weird?’</a:t>
            </a:r>
          </a:p>
          <a:p xmlns:a="http://schemas.openxmlformats.org/drawingml/2006/main">
            <a:r>
              <a:t>Tell students they are joining an AI detective squad. Their job is curiosity, not catching people 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Have students vote A, B, or C with their hands. Accept B and C as detective moves; emphasize that checking the closest reliable source is strongest.</a:t>
            </a:r>
          </a:p>
          <a:p xmlns:a="http://schemas.openxmlformats.org/drawingml/2006/main">
            <a:r>
              <a:t>Let students react to the six-seven reference, then bring it back: a funny or oddly specific detail can make a rumor memorable without making it true.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Ask for one example students have seen in each column.</a:t>
            </a:r>
          </a:p>
          <a:p xmlns:a="http://schemas.openxmlformats.org/drawingml/2006/main">
            <a:r>
              <a:t>Clarify: AI-made does not always mean bad or false. It means we should know what we are looking at and check important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 the four moves with hand motions: palm out for Pause, pretend magnifying glass for Inspect, two fingers comparing for Check, thumbs choice for Decide.</a:t>
            </a:r>
          </a:p>
          <a:p xmlns:a="http://schemas.openxmlformats.org/drawingml/2006/main">
            <a:r>
              <a:t>Have the group repeat the four words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Introduce four places to scan. Have students point to their hands, pretend to read a sign, make a reflection pose, and trace an object edge.</a:t>
            </a:r>
          </a:p>
          <a:p xmlns:a="http://schemas.openxmlformats.org/drawingml/2006/main">
            <a:r>
              <a:t>Remind them that modern generators may avoid many of these errors, so checking the source still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Give students 35 seconds to scan using the four categories. Ask each group to name one clue without repeating a previous answer.</a:t>
            </a:r>
          </a:p>
          <a:p xmlns:a="http://schemas.openxmlformats.org/drawingml/2006/main">
            <a:r>
              <a:t>Do not reveal answers yet; tell them to remember their strongest clue.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Give students another 35 seconds. Ask them to rank clues: strong, maybe, or weak.</a:t>
            </a:r>
          </a:p>
          <a:p xmlns:a="http://schemas.openxmlformats.org/drawingml/2006/main">
            <a:r>
              <a:t>Use the six-seven energy here if helpful: ‘Did anyone find six clues? Seven? The case only needs five.’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Reveal the intended artifacts. If a requested artifact rendered less clearly, use that as a teaching moment: not every suspected clue is equally strong.</a:t>
            </a:r>
          </a:p>
          <a:p xmlns:a="http://schemas.openxmlformats.org/drawingml/2006/main">
            <a:r>
              <a:t>Ask which clue was easiest and which required the most careful looking.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Give students 30–45 seconds of silent looking, then take answers. Do not reveal all clues until the next slide.</a:t>
            </a:r>
          </a:p>
          <a:p xmlns:a="http://schemas.openxmlformats.org/drawingml/2006/main">
            <a:r>
              <a:t>Reminder: One odd detail does not prove AI. It is a reason to inspect and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Reveal the five planned oddities. Praise observations even if students found other plausible details.</a:t>
            </a:r>
          </a:p>
          <a:p xmlns:a="http://schemas.openxmlformats.org/drawingml/2006/main">
            <a:r>
              <a:t>Stress the key distinction: clues start an investigation; they do not finish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Ask students what words or ideas they would check. Then reveal the verdict.</a:t>
            </a:r>
          </a:p>
          <a:p xmlns:a="http://schemas.openxmlformats.org/drawingml/2006/main">
            <a:r>
              <a:t>Explain that AI often predicts a plausible-sounding next sentence; it does not automatically verify each 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Give quick examples and ask for the closest source: weather warning, camp schedule change, animal fact.</a:t>
            </a:r>
          </a:p>
          <a:p xmlns:a="http://schemas.openxmlformats.org/drawingml/2006/main">
            <a:r>
              <a:t>If devices are available, demonstrate opening a second trustworthy source. Otherwise keep it verbal.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Demonstrate the four tools with a pretend screenshot. Ask: What information disappears when a post is cropped? Name, date, link, and context.</a:t>
            </a:r>
          </a:p>
          <a:p xmlns:a="http://schemas.openxmlformats.org/drawingml/2006/main">
            <a:r>
              <a:t>Students do not need advanced software. Careful looking and source comparison do most of the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Keep this practical and calm. Invite students to name a trusted adult at camp they can go to.</a:t>
            </a:r>
          </a:p>
          <a:p xmlns:a="http://schemas.openxmlformats.org/drawingml/2006/main">
            <a:r>
              <a:t>Emphasize: do not re-share harmful or embarrassing content as ‘evidence.’ Show it privately to an adult instead.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Ask the final question; the group answers ‘Pause!’ Then repeat the full method together: Pause, Inspect, Check, Decide.</a:t>
            </a:r>
          </a:p>
          <a:p xmlns:a="http://schemas.openxmlformats.org/drawingml/2006/main">
            <a:r>
              <a:t>Close with the pledge line. Optional: appoint everyone an official AI Detective for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02597964846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8f3f2f47514ca8" /><Relationship Type="http://schemas.openxmlformats.org/officeDocument/2006/relationships/slideLayout" Target="/ppt/slideLayouts/slideLayout1.xml" Id="Re52fbb06678746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2fbb06678746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911744d8e44cb" /><Relationship Type="http://schemas.openxmlformats.org/officeDocument/2006/relationships/notesSlide" Target="/ppt/notesSlides/notesSlide1.xml" Id="Rbe74bf13b78a48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1d43abf4241d1" /><Relationship Type="http://schemas.openxmlformats.org/officeDocument/2006/relationships/notesSlide" Target="/ppt/notesSlides/notesSlide2.xml" Id="R2b293992395942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dcc952c324987" /><Relationship Type="http://schemas.openxmlformats.org/officeDocument/2006/relationships/notesSlide" Target="/ppt/notesSlides/notesSlide3.xml" Id="R7362904a7a2743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5e0a06c034e40" /><Relationship Type="http://schemas.openxmlformats.org/officeDocument/2006/relationships/notesSlide" Target="/ppt/notesSlides/notesSlide4.xml" Id="R2c00ae80b4bc40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239e747dd4d84" /><Relationship Type="http://schemas.openxmlformats.org/officeDocument/2006/relationships/notesSlide" Target="/ppt/notesSlides/notesSlide5.xml" Id="R970fe1316a8941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4b18a6b0147b9" /><Relationship Type="http://schemas.openxmlformats.org/officeDocument/2006/relationships/image" Target="/ppt/media/image.png" Id="Rde7cdee9893f4303" /><Relationship Type="http://schemas.openxmlformats.org/officeDocument/2006/relationships/notesSlide" Target="/ppt/notesSlides/notesSlide6.xml" Id="Rccd6654b945e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ce68a2ef7441e" /><Relationship Type="http://schemas.openxmlformats.org/officeDocument/2006/relationships/image" Target="/ppt/media/image2.png" Id="Rafb3b11604f144cc" /><Relationship Type="http://schemas.openxmlformats.org/officeDocument/2006/relationships/notesSlide" Target="/ppt/notesSlides/notesSlide7.xml" Id="R56867c9e96ce49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7c1bd08834e33" /><Relationship Type="http://schemas.openxmlformats.org/officeDocument/2006/relationships/notesSlide" Target="/ppt/notesSlides/notesSlide8.xml" Id="R32fdfec7f8ce43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4f1f337064ed4" /><Relationship Type="http://schemas.openxmlformats.org/officeDocument/2006/relationships/image" Target="/ppt/media/image3.png" Id="Rd48b0f23d97a4c56" /><Relationship Type="http://schemas.openxmlformats.org/officeDocument/2006/relationships/notesSlide" Target="/ppt/notesSlides/notesSlide9.xml" Id="R03f595502c5240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a377c46834c18" /><Relationship Type="http://schemas.openxmlformats.org/officeDocument/2006/relationships/notesSlide" Target="/ppt/notesSlides/notesSlide10.xml" Id="Rb75f4f11933549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2377055414675" /><Relationship Type="http://schemas.openxmlformats.org/officeDocument/2006/relationships/notesSlide" Target="/ppt/notesSlides/notesSlide11.xml" Id="R4b08ebf49fc445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105a89afe4fd6" /><Relationship Type="http://schemas.openxmlformats.org/officeDocument/2006/relationships/notesSlide" Target="/ppt/notesSlides/notesSlide12.xml" Id="R5806e28f970e43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54d8c9a2e4ee8" /><Relationship Type="http://schemas.openxmlformats.org/officeDocument/2006/relationships/notesSlide" Target="/ppt/notesSlides/notesSlide13.xml" Id="Rd1d51f6e499b44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b5be7b3bb4ada" /><Relationship Type="http://schemas.openxmlformats.org/officeDocument/2006/relationships/notesSlide" Target="/ppt/notesSlides/notesSlide14.xml" Id="Ra95cfb3c042d42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b4e13b2a04427" /><Relationship Type="http://schemas.openxmlformats.org/officeDocument/2006/relationships/notesSlide" Target="/ppt/notesSlides/notesSlide15.xml" Id="Ra501f07766254d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D95468F-80EC-4E15-92A6-E5B99542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CAMP CHALLENGE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2527D0-7D0C-43A3-8A09-7AAE9AE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952500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Being an
AI Detective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66C0308-D798-4D7F-AE4C-7BC5ECE8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7810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Can you spot what’s real, what’s weird, and what needs checking?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BF270C9-E581-4221-80E6-35E60B8D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0050"/>
            <a:ext cx="1266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1694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B880C357-2F9F-4344-9078-08EB0948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message can look confident and still be wrong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441451CE-3EE4-4C96-9BE1-628BFEB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share-prompt">
            <a:extLst xmlns:a="http://schemas.openxmlformats.org/drawingml/2006/main">
              <a:ext uri="{FF2B5EF4-FFF2-40B4-BE49-F238E27FC236}">
                <a16:creationId xmlns:a16="http://schemas.microsoft.com/office/drawing/2014/main" id="{6036FD93-9F71-4FAF-87E8-6062DB02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447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Your friend sends this:</a:t>
            </a:r>
          </a:p>
        </p:txBody>
      </p:sp>
      <p:sp>
        <p:nvSpPr>
          <p:cNvPr id="4" name="message-panel">
            <a:extLst xmlns:a="http://schemas.openxmlformats.org/drawingml/2006/main">
              <a:ext uri="{FF2B5EF4-FFF2-40B4-BE49-F238E27FC236}">
                <a16:creationId xmlns:a16="http://schemas.microsoft.com/office/drawing/2014/main" id="{719833BA-6FE5-4032-84C7-302CD8F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6819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message-text">
            <a:extLst xmlns:a="http://schemas.openxmlformats.org/drawingml/2006/main">
              <a:ext uri="{FF2B5EF4-FFF2-40B4-BE49-F238E27FC236}">
                <a16:creationId xmlns:a16="http://schemas.microsoft.com/office/drawing/2014/main" id="{EA070552-2170-4ABF-89EA-A0F0768B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“Camp is cancelled at 6:07.
A squirrel stole the Wi-Fi.”</a:t>
            </a:r>
          </a:p>
        </p:txBody>
      </p:sp>
      <p:sp>
        <p:nvSpPr>
          <p:cNvPr id="6" name="decision-question">
            <a:extLst xmlns:a="http://schemas.openxmlformats.org/drawingml/2006/main">
              <a:ext uri="{FF2B5EF4-FFF2-40B4-BE49-F238E27FC236}">
                <a16:creationId xmlns:a16="http://schemas.microsoft.com/office/drawing/2014/main" id="{94B017FB-7FB6-4169-99D0-23B4841E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3905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What do you do?</a:t>
            </a:r>
          </a:p>
        </p:txBody>
      </p:sp>
      <p:sp>
        <p:nvSpPr>
          <p:cNvPr id="7" name="decision-options">
            <a:extLst xmlns:a="http://schemas.openxmlformats.org/drawingml/2006/main">
              <a:ext uri="{FF2B5EF4-FFF2-40B4-BE49-F238E27FC236}">
                <a16:creationId xmlns:a16="http://schemas.microsoft.com/office/drawing/2014/main" id="{3D96C2B4-10F4-4714-915E-730DDC5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905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 Share it fast
B  Ask where it came from
C  Check with camp staff</a:t>
            </a:r>
          </a:p>
        </p:txBody>
      </p:sp>
      <p:sp>
        <p:nvSpPr>
          <p:cNvPr id="8" name="decision-takeaway">
            <a:extLst xmlns:a="http://schemas.openxmlformats.org/drawingml/2006/main">
              <a:ext uri="{FF2B5EF4-FFF2-40B4-BE49-F238E27FC236}">
                <a16:creationId xmlns:a16="http://schemas.microsoft.com/office/drawing/2014/main" id="{031CD703-F404-4C1B-AAFD-6CB1EADF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14950"/>
            <a:ext cx="933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6:07 is oddly specific. It still isn’t evidence.</a:t>
            </a:r>
          </a:p>
        </p:txBody>
      </p:sp>
    </p:spTree>
    <p:extLst>
      <p:ext uri="{BB962C8B-B14F-4D97-AF65-F5344CB8AC3E}">
        <p14:creationId xmlns:p14="http://schemas.microsoft.com/office/powerpoint/2010/main" val="994329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98F8078-64D5-45B8-BEAA-64C85DE3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AI can make convincing words, pictures, and voices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6BA2A034-9BDE-402F-A541-8FF2A404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" name="words-label">
            <a:extLst xmlns:a="http://schemas.openxmlformats.org/drawingml/2006/main">
              <a:ext uri="{FF2B5EF4-FFF2-40B4-BE49-F238E27FC236}">
                <a16:creationId xmlns:a16="http://schemas.microsoft.com/office/drawing/2014/main" id="{D7CDE786-D71D-4091-9C8E-21EEBE49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WORDS</a:t>
            </a:r>
          </a:p>
        </p:txBody>
      </p:sp>
      <p:sp>
        <p:nvSpPr>
          <p:cNvPr id="4" name="words-list">
            <a:extLst xmlns:a="http://schemas.openxmlformats.org/drawingml/2006/main">
              <a:ext uri="{FF2B5EF4-FFF2-40B4-BE49-F238E27FC236}">
                <a16:creationId xmlns:a16="http://schemas.microsoft.com/office/drawing/2014/main" id="{91B33D9B-4BA2-4309-B37D-63E4289F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813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Stories
Answers
Messages</a:t>
            </a:r>
          </a:p>
        </p:txBody>
      </p:sp>
      <p:sp>
        <p:nvSpPr>
          <p:cNvPr id="5" name="pictures-label">
            <a:extLst xmlns:a="http://schemas.openxmlformats.org/drawingml/2006/main">
              <a:ext uri="{FF2B5EF4-FFF2-40B4-BE49-F238E27FC236}">
                <a16:creationId xmlns:a16="http://schemas.microsoft.com/office/drawing/2014/main" id="{240AEE3C-1602-4867-8229-15528DED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PICTURES</a:t>
            </a:r>
          </a:p>
        </p:txBody>
      </p:sp>
      <p:sp>
        <p:nvSpPr>
          <p:cNvPr id="6" name="pictures-list">
            <a:extLst xmlns:a="http://schemas.openxmlformats.org/drawingml/2006/main">
              <a:ext uri="{FF2B5EF4-FFF2-40B4-BE49-F238E27FC236}">
                <a16:creationId xmlns:a16="http://schemas.microsoft.com/office/drawing/2014/main" id="{B66B78C3-FD0A-432E-8775-4E7161D5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People
Places
Events</a:t>
            </a:r>
          </a:p>
        </p:txBody>
      </p:sp>
      <p:sp>
        <p:nvSpPr>
          <p:cNvPr id="7" name="sounds-label">
            <a:extLst xmlns:a="http://schemas.openxmlformats.org/drawingml/2006/main">
              <a:ext uri="{FF2B5EF4-FFF2-40B4-BE49-F238E27FC236}">
                <a16:creationId xmlns:a16="http://schemas.microsoft.com/office/drawing/2014/main" id="{4DB3D858-938C-41A5-B448-2627AE4E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SOUNDS</a:t>
            </a:r>
          </a:p>
        </p:txBody>
      </p:sp>
      <p:sp>
        <p:nvSpPr>
          <p:cNvPr id="8" name="sounds-list">
            <a:extLst xmlns:a="http://schemas.openxmlformats.org/drawingml/2006/main">
              <a:ext uri="{FF2B5EF4-FFF2-40B4-BE49-F238E27FC236}">
                <a16:creationId xmlns:a16="http://schemas.microsoft.com/office/drawing/2014/main" id="{270A41C6-BFE9-45DA-A840-5154C74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Voices
Music
Effects</a:t>
            </a:r>
          </a:p>
        </p:txBody>
      </p:sp>
      <p:sp>
        <p:nvSpPr>
          <p:cNvPr id="9" name="rule-3a">
            <a:extLst xmlns:a="http://schemas.openxmlformats.org/drawingml/2006/main">
              <a:ext uri="{FF2B5EF4-FFF2-40B4-BE49-F238E27FC236}">
                <a16:creationId xmlns:a16="http://schemas.microsoft.com/office/drawing/2014/main" id="{E37AEAF9-F6AB-4323-84D2-9914D293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3b">
            <a:extLst xmlns:a="http://schemas.openxmlformats.org/drawingml/2006/main">
              <a:ext uri="{FF2B5EF4-FFF2-40B4-BE49-F238E27FC236}">
                <a16:creationId xmlns:a16="http://schemas.microsoft.com/office/drawing/2014/main" id="{8551D0D4-034D-4001-AED8-014EAA80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33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ability-takeaway">
            <a:extLst xmlns:a="http://schemas.openxmlformats.org/drawingml/2006/main">
              <a:ext uri="{FF2B5EF4-FFF2-40B4-BE49-F238E27FC236}">
                <a16:creationId xmlns:a16="http://schemas.microsoft.com/office/drawing/2014/main" id="{D6FBF33A-8F62-4778-B1D6-1C8D1D4E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809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Useful? Yes. Automatically true? No.</a:t>
            </a:r>
          </a:p>
        </p:txBody>
      </p:sp>
    </p:spTree>
    <p:extLst>
      <p:ext uri="{BB962C8B-B14F-4D97-AF65-F5344CB8AC3E}">
        <p14:creationId xmlns:p14="http://schemas.microsoft.com/office/powerpoint/2010/main" val="635023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261EFAD-943B-4F08-B2D1-09444921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Use four moves whenever something feels surprising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1A6A8DB3-72FB-43F0-A034-BE88F3D1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" name="method-rule">
            <a:extLst xmlns:a="http://schemas.openxmlformats.org/drawingml/2006/main">
              <a:ext uri="{FF2B5EF4-FFF2-40B4-BE49-F238E27FC236}">
                <a16:creationId xmlns:a16="http://schemas.microsoft.com/office/drawing/2014/main" id="{89B65CA2-40A3-4A6F-9528-756BA15B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11401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use-number">
            <a:extLst xmlns:a="http://schemas.openxmlformats.org/drawingml/2006/main">
              <a:ext uri="{FF2B5EF4-FFF2-40B4-BE49-F238E27FC236}">
                <a16:creationId xmlns:a16="http://schemas.microsoft.com/office/drawing/2014/main" id="{BAC14A06-A4BB-43C1-8751-36E4488B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5" name="pause-title">
            <a:extLst xmlns:a="http://schemas.openxmlformats.org/drawingml/2006/main">
              <a:ext uri="{FF2B5EF4-FFF2-40B4-BE49-F238E27FC236}">
                <a16:creationId xmlns:a16="http://schemas.microsoft.com/office/drawing/2014/main" id="{C1D75BCC-24DD-4862-8A22-A87AE19A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9070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PAUSE</a:t>
            </a:r>
          </a:p>
        </p:txBody>
      </p:sp>
      <p:sp>
        <p:nvSpPr>
          <p:cNvPr id="6" name="pause-body">
            <a:extLst xmlns:a="http://schemas.openxmlformats.org/drawingml/2006/main">
              <a:ext uri="{FF2B5EF4-FFF2-40B4-BE49-F238E27FC236}">
                <a16:creationId xmlns:a16="http://schemas.microsoft.com/office/drawing/2014/main" id="{9B353099-6622-4571-9337-B7B3BDDA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4095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Don’t react or share yet.</a:t>
            </a:r>
          </a:p>
        </p:txBody>
      </p:sp>
      <p:sp>
        <p:nvSpPr>
          <p:cNvPr id="7" name="inspect-number">
            <a:extLst xmlns:a="http://schemas.openxmlformats.org/drawingml/2006/main">
              <a:ext uri="{FF2B5EF4-FFF2-40B4-BE49-F238E27FC236}">
                <a16:creationId xmlns:a16="http://schemas.microsoft.com/office/drawing/2014/main" id="{80718229-DB55-45E1-8FD7-DD7012B3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8" name="inspect-title">
            <a:extLst xmlns:a="http://schemas.openxmlformats.org/drawingml/2006/main">
              <a:ext uri="{FF2B5EF4-FFF2-40B4-BE49-F238E27FC236}">
                <a16:creationId xmlns:a16="http://schemas.microsoft.com/office/drawing/2014/main" id="{53092827-3AC4-487B-B902-6B9B7586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9070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INSPECT</a:t>
            </a:r>
          </a:p>
        </p:txBody>
      </p:sp>
      <p:sp>
        <p:nvSpPr>
          <p:cNvPr id="9" name="inspect-body">
            <a:extLst xmlns:a="http://schemas.openxmlformats.org/drawingml/2006/main">
              <a:ext uri="{FF2B5EF4-FFF2-40B4-BE49-F238E27FC236}">
                <a16:creationId xmlns:a16="http://schemas.microsoft.com/office/drawing/2014/main" id="{3441E60C-80F9-4C08-ABAC-DBA388C4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4095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Count the fingers. Six? Seven? Suspicious.</a:t>
            </a:r>
          </a:p>
        </p:txBody>
      </p:sp>
      <p:sp>
        <p:nvSpPr>
          <p:cNvPr id="10" name="check-number">
            <a:extLst xmlns:a="http://schemas.openxmlformats.org/drawingml/2006/main">
              <a:ext uri="{FF2B5EF4-FFF2-40B4-BE49-F238E27FC236}">
                <a16:creationId xmlns:a16="http://schemas.microsoft.com/office/drawing/2014/main" id="{2ECD80F5-20E2-4DE5-90AD-4658405B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check-title">
            <a:extLst xmlns:a="http://schemas.openxmlformats.org/drawingml/2006/main">
              <a:ext uri="{FF2B5EF4-FFF2-40B4-BE49-F238E27FC236}">
                <a16:creationId xmlns:a16="http://schemas.microsoft.com/office/drawing/2014/main" id="{ED7BBFB0-6069-4382-88AA-E6D6ADC9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12" name="check-body">
            <a:extLst xmlns:a="http://schemas.openxmlformats.org/drawingml/2006/main">
              <a:ext uri="{FF2B5EF4-FFF2-40B4-BE49-F238E27FC236}">
                <a16:creationId xmlns:a16="http://schemas.microsoft.com/office/drawing/2014/main" id="{F0F24FA7-42AE-4FCF-9D2D-0BAA083D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428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Find the original and compare sources.</a:t>
            </a:r>
          </a:p>
        </p:txBody>
      </p:sp>
      <p:sp>
        <p:nvSpPr>
          <p:cNvPr id="13" name="decide-number">
            <a:extLst xmlns:a="http://schemas.openxmlformats.org/drawingml/2006/main">
              <a:ext uri="{FF2B5EF4-FFF2-40B4-BE49-F238E27FC236}">
                <a16:creationId xmlns:a16="http://schemas.microsoft.com/office/drawing/2014/main" id="{8D128549-76BF-43F3-98D9-FED21793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4" name="decide-title">
            <a:extLst xmlns:a="http://schemas.openxmlformats.org/drawingml/2006/main">
              <a:ext uri="{FF2B5EF4-FFF2-40B4-BE49-F238E27FC236}">
                <a16:creationId xmlns:a16="http://schemas.microsoft.com/office/drawing/2014/main" id="{92A5D0C5-C762-4E9C-A7A6-59968B03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15" name="decide-body">
            <a:extLst xmlns:a="http://schemas.openxmlformats.org/drawingml/2006/main">
              <a:ext uri="{FF2B5EF4-FFF2-40B4-BE49-F238E27FC236}">
                <a16:creationId xmlns:a16="http://schemas.microsoft.com/office/drawing/2014/main" id="{C1BCEA81-0EDA-4F56-92E9-BF76A002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428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Trust it, question it, or ask an adult.</a:t>
            </a:r>
          </a:p>
        </p:txBody>
      </p:sp>
      <p:sp>
        <p:nvSpPr>
          <p:cNvPr id="16" name="method-recap">
            <a:extLst xmlns:a="http://schemas.openxmlformats.org/drawingml/2006/main">
              <a:ext uri="{FF2B5EF4-FFF2-40B4-BE49-F238E27FC236}">
                <a16:creationId xmlns:a16="http://schemas.microsoft.com/office/drawing/2014/main" id="{5DB8278C-4FC8-49C0-B7D6-2C492B83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685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Pause • Inspect • Check • Decide</a:t>
            </a:r>
          </a:p>
        </p:txBody>
      </p:sp>
    </p:spTree>
    <p:extLst>
      <p:ext uri="{BB962C8B-B14F-4D97-AF65-F5344CB8AC3E}">
        <p14:creationId xmlns:p14="http://schemas.microsoft.com/office/powerpoint/2010/main" val="652193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3B4DBD2-B22E-4C57-BD06-6A8080D9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Artifacts hide where details must stay consistent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AFB46EC3-9159-40A7-9746-5B07FBAA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artifact-hands-title">
            <a:extLst xmlns:a="http://schemas.openxmlformats.org/drawingml/2006/main">
              <a:ext uri="{FF2B5EF4-FFF2-40B4-BE49-F238E27FC236}">
                <a16:creationId xmlns:a16="http://schemas.microsoft.com/office/drawing/2014/main" id="{F8806B82-B276-4E6A-9A9E-6494B0B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HANDS + FACES</a:t>
            </a:r>
          </a:p>
        </p:txBody>
      </p:sp>
      <p:sp>
        <p:nvSpPr>
          <p:cNvPr id="4" name="artifact-hands-body">
            <a:extLst xmlns:a="http://schemas.openxmlformats.org/drawingml/2006/main">
              <a:ext uri="{FF2B5EF4-FFF2-40B4-BE49-F238E27FC236}">
                <a16:creationId xmlns:a16="http://schemas.microsoft.com/office/drawing/2014/main" id="{9175DFB9-AC73-4234-8AE7-4860820C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098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Extra fingers, strange joints, uneven glasses</a:t>
            </a:r>
          </a:p>
        </p:txBody>
      </p:sp>
      <p:sp>
        <p:nvSpPr>
          <p:cNvPr id="5" name="artifact-text-title">
            <a:extLst xmlns:a="http://schemas.openxmlformats.org/drawingml/2006/main">
              <a:ext uri="{FF2B5EF4-FFF2-40B4-BE49-F238E27FC236}">
                <a16:creationId xmlns:a16="http://schemas.microsoft.com/office/drawing/2014/main" id="{DE6929C0-75F0-43FC-8DDF-E2521591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TEXT + SYMBOLS</a:t>
            </a:r>
          </a:p>
        </p:txBody>
      </p:sp>
      <p:sp>
        <p:nvSpPr>
          <p:cNvPr id="6" name="artifact-text-body">
            <a:extLst xmlns:a="http://schemas.openxmlformats.org/drawingml/2006/main">
              <a:ext uri="{FF2B5EF4-FFF2-40B4-BE49-F238E27FC236}">
                <a16:creationId xmlns:a16="http://schemas.microsoft.com/office/drawing/2014/main" id="{1516E1B0-8DB4-413E-A456-8E931911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Warped letters, nonsense words, mixed numbers</a:t>
            </a:r>
          </a:p>
        </p:txBody>
      </p:sp>
      <p:sp>
        <p:nvSpPr>
          <p:cNvPr id="7" name="artifact-guide-rule">
            <a:extLst xmlns:a="http://schemas.openxmlformats.org/drawingml/2006/main">
              <a:ext uri="{FF2B5EF4-FFF2-40B4-BE49-F238E27FC236}">
                <a16:creationId xmlns:a16="http://schemas.microsoft.com/office/drawing/2014/main" id="{765D9A4B-D0AB-4F80-8A81-5E176369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1401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tifact-light-title">
            <a:extLst xmlns:a="http://schemas.openxmlformats.org/drawingml/2006/main">
              <a:ext uri="{FF2B5EF4-FFF2-40B4-BE49-F238E27FC236}">
                <a16:creationId xmlns:a16="http://schemas.microsoft.com/office/drawing/2014/main" id="{E0A5FD26-277E-4ACB-97AF-B45FB7E4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LIGHT + REFLECTIONS</a:t>
            </a:r>
          </a:p>
        </p:txBody>
      </p:sp>
      <p:sp>
        <p:nvSpPr>
          <p:cNvPr id="9" name="artifact-light-body">
            <a:extLst xmlns:a="http://schemas.openxmlformats.org/drawingml/2006/main">
              <a:ext uri="{FF2B5EF4-FFF2-40B4-BE49-F238E27FC236}">
                <a16:creationId xmlns:a16="http://schemas.microsoft.com/office/drawing/2014/main" id="{245D33BF-6B31-4EE1-9A05-F904638B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1005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Shadows disagree; mirrors show the wrong thing</a:t>
            </a:r>
          </a:p>
        </p:txBody>
      </p:sp>
      <p:sp>
        <p:nvSpPr>
          <p:cNvPr id="10" name="artifact-objects-title">
            <a:extLst xmlns:a="http://schemas.openxmlformats.org/drawingml/2006/main">
              <a:ext uri="{FF2B5EF4-FFF2-40B4-BE49-F238E27FC236}">
                <a16:creationId xmlns:a16="http://schemas.microsoft.com/office/drawing/2014/main" id="{122DCB0B-6F29-426F-8C94-FE34B86B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EDGES + OBJECTS</a:t>
            </a:r>
          </a:p>
        </p:txBody>
      </p:sp>
      <p:sp>
        <p:nvSpPr>
          <p:cNvPr id="11" name="artifact-objects-body">
            <a:extLst xmlns:a="http://schemas.openxmlformats.org/drawingml/2006/main">
              <a:ext uri="{FF2B5EF4-FFF2-40B4-BE49-F238E27FC236}">
                <a16:creationId xmlns:a16="http://schemas.microsoft.com/office/drawing/2014/main" id="{37F4DD47-E1CC-4B06-923E-A8278E04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1005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Objects melt, repeat, connect, or bend impossibly</a:t>
            </a:r>
          </a:p>
        </p:txBody>
      </p:sp>
      <p:sp>
        <p:nvSpPr>
          <p:cNvPr id="12" name="artifact-guide-takeaway">
            <a:extLst xmlns:a="http://schemas.openxmlformats.org/drawingml/2006/main">
              <a:ext uri="{FF2B5EF4-FFF2-40B4-BE49-F238E27FC236}">
                <a16:creationId xmlns:a16="http://schemas.microsoft.com/office/drawing/2014/main" id="{B64EDC86-FCDC-4043-BC22-4F070261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047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One clue starts the investigation. Several clues make the case stronger.</a:t>
            </a:r>
          </a:p>
        </p:txBody>
      </p:sp>
    </p:spTree>
    <p:extLst>
      <p:ext uri="{BB962C8B-B14F-4D97-AF65-F5344CB8AC3E}">
        <p14:creationId xmlns:p14="http://schemas.microsoft.com/office/powerpoint/2010/main" val="1088716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snack-pavilion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cdee9893f430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nack-case-banner">
            <a:extLst xmlns:a="http://schemas.openxmlformats.org/drawingml/2006/main">
              <a:ext uri="{FF2B5EF4-FFF2-40B4-BE49-F238E27FC236}">
                <a16:creationId xmlns:a16="http://schemas.microsoft.com/office/drawing/2014/main" id="{1624A9BB-E09A-410A-8A59-B9C0C83E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6477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snack-case-title">
            <a:extLst xmlns:a="http://schemas.openxmlformats.org/drawingml/2006/main">
              <a:ext uri="{FF2B5EF4-FFF2-40B4-BE49-F238E27FC236}">
                <a16:creationId xmlns:a16="http://schemas.microsoft.com/office/drawing/2014/main" id="{72B7EC9C-4106-4D0E-B2E7-0E547A9F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590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CASE #1: THE SNACK PAVILION</a:t>
            </a:r>
          </a:p>
        </p:txBody>
      </p:sp>
      <p:sp>
        <p:nvSpPr>
          <p:cNvPr id="4" name="snack-case-label">
            <a:extLst xmlns:a="http://schemas.openxmlformats.org/drawingml/2006/main">
              <a:ext uri="{FF2B5EF4-FFF2-40B4-BE49-F238E27FC236}">
                <a16:creationId xmlns:a16="http://schemas.microsoft.com/office/drawing/2014/main" id="{EAABDAA7-7993-4A6E-919B-7DAD8A40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AI-GENERATED PRACTICE IMAGE • Find five suspicious details</a:t>
            </a:r>
          </a:p>
        </p:txBody>
      </p:sp>
    </p:spTree>
    <p:extLst>
      <p:ext uri="{BB962C8B-B14F-4D97-AF65-F5344CB8AC3E}">
        <p14:creationId xmlns:p14="http://schemas.microsoft.com/office/powerpoint/2010/main" val="509921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field-day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3b11604f144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ield-case-banner">
            <a:extLst xmlns:a="http://schemas.openxmlformats.org/drawingml/2006/main">
              <a:ext uri="{FF2B5EF4-FFF2-40B4-BE49-F238E27FC236}">
                <a16:creationId xmlns:a16="http://schemas.microsoft.com/office/drawing/2014/main" id="{1050042A-36EC-4FEA-A0D7-539FF040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619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ield-case-title">
            <a:extLst xmlns:a="http://schemas.openxmlformats.org/drawingml/2006/main">
              <a:ext uri="{FF2B5EF4-FFF2-40B4-BE49-F238E27FC236}">
                <a16:creationId xmlns:a16="http://schemas.microsoft.com/office/drawing/2014/main" id="{BEAB693E-D668-4F7C-9528-3BEEDE0A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561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CASE #2: FIELD-DAY FINISH</a:t>
            </a:r>
          </a:p>
        </p:txBody>
      </p:sp>
      <p:sp>
        <p:nvSpPr>
          <p:cNvPr id="4" name="field-case-label">
            <a:extLst xmlns:a="http://schemas.openxmlformats.org/drawingml/2006/main">
              <a:ext uri="{FF2B5EF4-FFF2-40B4-BE49-F238E27FC236}">
                <a16:creationId xmlns:a16="http://schemas.microsoft.com/office/drawing/2014/main" id="{0EBB830D-6B19-4BC7-BED3-2D029E1D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561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AI-GENERATED PRACTICE IMAGE • Which clues are strongest?</a:t>
            </a:r>
          </a:p>
        </p:txBody>
      </p:sp>
    </p:spTree>
    <p:extLst>
      <p:ext uri="{BB962C8B-B14F-4D97-AF65-F5344CB8AC3E}">
        <p14:creationId xmlns:p14="http://schemas.microsoft.com/office/powerpoint/2010/main" val="590513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7D4D431-6449-46EE-BC0F-F5C841EB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pattern of clues is stronger than one weird pixel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9E199EF2-B60F-45FD-98EB-B7FF6362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3" name="snack-reveal-title">
            <a:extLst xmlns:a="http://schemas.openxmlformats.org/drawingml/2006/main">
              <a:ext uri="{FF2B5EF4-FFF2-40B4-BE49-F238E27FC236}">
                <a16:creationId xmlns:a16="http://schemas.microsoft.com/office/drawing/2014/main" id="{352F2D1A-15EB-45FA-B99C-5F0DB585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3830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SNACK PAVILION</a:t>
            </a:r>
          </a:p>
        </p:txBody>
      </p:sp>
      <p:sp>
        <p:nvSpPr>
          <p:cNvPr id="4" name="snack-reveal-list">
            <a:extLst xmlns:a="http://schemas.openxmlformats.org/drawingml/2006/main">
              <a:ext uri="{FF2B5EF4-FFF2-40B4-BE49-F238E27FC236}">
                <a16:creationId xmlns:a16="http://schemas.microsoft.com/office/drawing/2014/main" id="{5DF4D6A4-1109-4260-96A8-FB23919F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5143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  Extra finger on the raised hand
2  Warped menu lettering
3  Cup with disconnected handles
4  Backpack color changes in reflection
5  Stool shadow points the wrong way</a:t>
            </a:r>
          </a:p>
        </p:txBody>
      </p:sp>
      <p:sp>
        <p:nvSpPr>
          <p:cNvPr id="5" name="reveal-divider">
            <a:extLst xmlns:a="http://schemas.openxmlformats.org/drawingml/2006/main">
              <a:ext uri="{FF2B5EF4-FFF2-40B4-BE49-F238E27FC236}">
                <a16:creationId xmlns:a16="http://schemas.microsoft.com/office/drawing/2014/main" id="{9FCB65D1-4703-4B8A-910D-E9BE1102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eld-reveal-title">
            <a:extLst xmlns:a="http://schemas.openxmlformats.org/drawingml/2006/main">
              <a:ext uri="{FF2B5EF4-FFF2-40B4-BE49-F238E27FC236}">
                <a16:creationId xmlns:a16="http://schemas.microsoft.com/office/drawing/2014/main" id="{39F69292-F564-4BFC-AABE-2AAF8667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FIELD DAY</a:t>
            </a:r>
          </a:p>
        </p:txBody>
      </p:sp>
      <p:sp>
        <p:nvSpPr>
          <p:cNvPr id="7" name="field-reveal-list">
            <a:extLst xmlns:a="http://schemas.openxmlformats.org/drawingml/2006/main">
              <a:ext uri="{FF2B5EF4-FFF2-40B4-BE49-F238E27FC236}">
                <a16:creationId xmlns:a16="http://schemas.microsoft.com/office/drawing/2014/main" id="{0B1148C6-F487-4B7D-B1EC-AF4DE5AB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  Two-left-shoe mix-up
2  Malformed finish banner
3  Rubber-bendy relay baton
4  Night-sky reflection in sunglasses
5  Cone with an impossible loop</a:t>
            </a:r>
          </a:p>
        </p:txBody>
      </p:sp>
      <p:sp>
        <p:nvSpPr>
          <p:cNvPr id="8" name="real-reveal-takeaway">
            <a:extLst xmlns:a="http://schemas.openxmlformats.org/drawingml/2006/main">
              <a:ext uri="{FF2B5EF4-FFF2-40B4-BE49-F238E27FC236}">
                <a16:creationId xmlns:a16="http://schemas.microsoft.com/office/drawing/2014/main" id="{7AD9689F-6C41-449F-B1C3-34E7B9C1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066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Best answer: “I see several clues, so I’m going to check the source.”</a:t>
            </a:r>
          </a:p>
        </p:txBody>
      </p:sp>
    </p:spTree>
    <p:extLst>
      <p:ext uri="{BB962C8B-B14F-4D97-AF65-F5344CB8AC3E}">
        <p14:creationId xmlns:p14="http://schemas.microsoft.com/office/powerpoint/2010/main" val="1630679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camp-clue-sce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b0f23d97a4c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hallenge-banner">
            <a:extLst xmlns:a="http://schemas.openxmlformats.org/drawingml/2006/main">
              <a:ext uri="{FF2B5EF4-FFF2-40B4-BE49-F238E27FC236}">
                <a16:creationId xmlns:a16="http://schemas.microsoft.com/office/drawing/2014/main" id="{A283BEFD-0F6F-44C1-BB8F-558FA99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5667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59C3C834-3213-49A3-B601-74E8A0D8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"/>
            <a:ext cx="509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CASE #3: CARTOON ROUND</a:t>
            </a:r>
          </a:p>
        </p:txBody>
      </p:sp>
      <p:sp>
        <p:nvSpPr>
          <p:cNvPr id="4" name="challenge-subtitle">
            <a:extLst xmlns:a="http://schemas.openxmlformats.org/drawingml/2006/main">
              <a:ext uri="{FF2B5EF4-FFF2-40B4-BE49-F238E27FC236}">
                <a16:creationId xmlns:a16="http://schemas.microsoft.com/office/drawing/2014/main" id="{CCBD910D-F033-40AC-A51C-2749387B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5095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Look closely. What feels impossible or inconsistent?</a:t>
            </a:r>
          </a:p>
        </p:txBody>
      </p:sp>
    </p:spTree>
    <p:extLst>
      <p:ext uri="{BB962C8B-B14F-4D97-AF65-F5344CB8AC3E}">
        <p14:creationId xmlns:p14="http://schemas.microsoft.com/office/powerpoint/2010/main" val="2092734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029C4AD-3D7E-4EAF-98D5-DEF62572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Odd details are clues—not automatic proof</a:t>
            </a:r>
          </a:p>
        </p:txBody>
      </p:sp>
      <p:sp>
        <p:nvSpPr>
          <p:cNvPr id="2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671990F0-A7C4-4DAD-956C-BCFC457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3" name="five-clues-label">
            <a:extLst xmlns:a="http://schemas.openxmlformats.org/drawingml/2006/main">
              <a:ext uri="{FF2B5EF4-FFF2-40B4-BE49-F238E27FC236}">
                <a16:creationId xmlns:a16="http://schemas.microsoft.com/office/drawing/2014/main" id="{1E125D71-F4E4-4B79-8975-933EB5E7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FIVE CLUES</a:t>
            </a:r>
          </a:p>
        </p:txBody>
      </p:sp>
      <p:sp>
        <p:nvSpPr>
          <p:cNvPr id="4" name="five-clues">
            <a:extLst xmlns:a="http://schemas.openxmlformats.org/drawingml/2006/main">
              <a:ext uri="{FF2B5EF4-FFF2-40B4-BE49-F238E27FC236}">
                <a16:creationId xmlns:a16="http://schemas.microsoft.com/office/drawing/2014/main" id="{7BC3D30A-BF83-42F8-BA24-7B5C8B7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657225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  Six fingers. Or seven? Nice try.
2  A square bicycle wheel
3  An impossibly bent sign
4  Mismatched raccoon paws
5  A canoe shadow going the wrong way</a:t>
            </a:r>
          </a:p>
        </p:txBody>
      </p:sp>
      <p:sp>
        <p:nvSpPr>
          <p:cNvPr id="5" name="interpret-panel">
            <a:extLst xmlns:a="http://schemas.openxmlformats.org/drawingml/2006/main">
              <a:ext uri="{FF2B5EF4-FFF2-40B4-BE49-F238E27FC236}">
                <a16:creationId xmlns:a16="http://schemas.microsoft.com/office/drawing/2014/main" id="{0C45C906-E765-4B87-8D6A-C3D8240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43624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terpret-title">
            <a:extLst xmlns:a="http://schemas.openxmlformats.org/drawingml/2006/main">
              <a:ext uri="{FF2B5EF4-FFF2-40B4-BE49-F238E27FC236}">
                <a16:creationId xmlns:a16="http://schemas.microsoft.com/office/drawing/2014/main" id="{82C008E9-9103-4563-B337-DCFC88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3667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Good detective thinking</a:t>
            </a:r>
          </a:p>
        </p:txBody>
      </p:sp>
      <p:sp>
        <p:nvSpPr>
          <p:cNvPr id="7" name="interpret-copy">
            <a:extLst xmlns:a="http://schemas.openxmlformats.org/drawingml/2006/main">
              <a:ext uri="{FF2B5EF4-FFF2-40B4-BE49-F238E27FC236}">
                <a16:creationId xmlns:a16="http://schemas.microsoft.com/office/drawing/2014/main" id="{23420BE5-EF1C-482A-BF91-88E03D41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3667125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“I noticed something odd.”
“I need another clue.”
“I’ll check before I claim.”</a:t>
            </a:r>
          </a:p>
        </p:txBody>
      </p:sp>
      <p:sp>
        <p:nvSpPr>
          <p:cNvPr id="8" name="reveal-takeaway">
            <a:extLst xmlns:a="http://schemas.openxmlformats.org/drawingml/2006/main">
              <a:ext uri="{FF2B5EF4-FFF2-40B4-BE49-F238E27FC236}">
                <a16:creationId xmlns:a16="http://schemas.microsoft.com/office/drawing/2014/main" id="{F9D78811-A4E5-4134-9E4D-57CEB1E0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62575"/>
            <a:ext cx="1000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Real photos can look strange too—because of angles, edits, or mistakes.</a:t>
            </a:r>
          </a:p>
        </p:txBody>
      </p:sp>
    </p:spTree>
    <p:extLst>
      <p:ext uri="{BB962C8B-B14F-4D97-AF65-F5344CB8AC3E}">
        <p14:creationId xmlns:p14="http://schemas.microsoft.com/office/powerpoint/2010/main" val="6398493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802163AE-16DD-495B-90B6-DD7F3F6A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CASE #4: A smooth answer can hide a false fact</a:t>
            </a:r>
          </a:p>
        </p:txBody>
      </p:sp>
      <p:sp>
        <p:nvSpPr>
          <p:cNvPr id="2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7327A379-EC42-4272-A45A-0D6F311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3" name="answer-box">
            <a:extLst xmlns:a="http://schemas.openxmlformats.org/drawingml/2006/main">
              <a:ext uri="{FF2B5EF4-FFF2-40B4-BE49-F238E27FC236}">
                <a16:creationId xmlns:a16="http://schemas.microsoft.com/office/drawing/2014/main" id="{96B9E7DC-529D-4F0E-8308-2395739C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6991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CB396C0E-5185-4EFB-BF4D-A4660108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AI ANSWER</a:t>
            </a:r>
          </a:p>
        </p:txBody>
      </p:sp>
      <p:sp>
        <p:nvSpPr>
          <p:cNvPr id="5" name="false-answer">
            <a:extLst xmlns:a="http://schemas.openxmlformats.org/drawingml/2006/main">
              <a:ext uri="{FF2B5EF4-FFF2-40B4-BE49-F238E27FC236}">
                <a16:creationId xmlns:a16="http://schemas.microsoft.com/office/drawing/2014/main" id="{CAA7B48C-4675-4693-A924-AB2F4E1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71750"/>
            <a:ext cx="62865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“Penguins live at the North Pole, where they split 67 fish nuggets with polar bears.”</a:t>
            </a:r>
          </a:p>
        </p:txBody>
      </p:sp>
      <p:sp>
        <p:nvSpPr>
          <p:cNvPr id="6" name="moves-title">
            <a:extLst xmlns:a="http://schemas.openxmlformats.org/drawingml/2006/main">
              <a:ext uri="{FF2B5EF4-FFF2-40B4-BE49-F238E27FC236}">
                <a16:creationId xmlns:a16="http://schemas.microsoft.com/office/drawing/2014/main" id="{90C92891-352A-4F0F-A17E-A6E79C61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390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Your detective moves</a:t>
            </a:r>
          </a:p>
        </p:txBody>
      </p:sp>
      <p:sp>
        <p:nvSpPr>
          <p:cNvPr id="7" name="moves-copy">
            <a:extLst xmlns:a="http://schemas.openxmlformats.org/drawingml/2006/main">
              <a:ext uri="{FF2B5EF4-FFF2-40B4-BE49-F238E27FC236}">
                <a16:creationId xmlns:a16="http://schemas.microsoft.com/office/drawing/2014/main" id="{F263DC34-017D-4BCB-980D-8728AF28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9052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  Circle the surprising claim
2  Ask: Who says so?
3  Check a trusted science source</a:t>
            </a:r>
          </a:p>
        </p:txBody>
      </p:sp>
      <p:sp>
        <p:nvSpPr>
          <p:cNvPr id="8" name="verdict">
            <a:extLst xmlns:a="http://schemas.openxmlformats.org/drawingml/2006/main">
              <a:ext uri="{FF2B5EF4-FFF2-40B4-BE49-F238E27FC236}">
                <a16:creationId xmlns:a16="http://schemas.microsoft.com/office/drawing/2014/main" id="{E1BCA6F6-2C3F-4183-AACB-D5B29B6C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1057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Verdict: Penguins live naturally in the Southern Hemisphere—not with polar bears in the Arctic.</a:t>
            </a:r>
          </a:p>
        </p:txBody>
      </p:sp>
    </p:spTree>
    <p:extLst>
      <p:ext uri="{BB962C8B-B14F-4D97-AF65-F5344CB8AC3E}">
        <p14:creationId xmlns:p14="http://schemas.microsoft.com/office/powerpoint/2010/main" val="17273253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2504EDF4-4691-415D-8066-E351A108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strongest check compares the claim with its source</a:t>
            </a:r>
          </a:p>
        </p:txBody>
      </p:sp>
      <p:sp>
        <p:nvSpPr>
          <p:cNvPr id="2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40C27CA5-2F8F-4AC4-A289-66B34EB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3" name="source-line">
            <a:extLst xmlns:a="http://schemas.openxmlformats.org/drawingml/2006/main">
              <a:ext uri="{FF2B5EF4-FFF2-40B4-BE49-F238E27FC236}">
                <a16:creationId xmlns:a16="http://schemas.microsoft.com/office/drawing/2014/main" id="{7BD3421E-57F4-4CA4-85C9-C11AEB69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ot-1">
            <a:extLst xmlns:a="http://schemas.openxmlformats.org/drawingml/2006/main">
              <a:ext uri="{FF2B5EF4-FFF2-40B4-BE49-F238E27FC236}">
                <a16:creationId xmlns:a16="http://schemas.microsoft.com/office/drawing/2014/main" id="{461CCE03-5614-4299-8B8B-516E0C0A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687F01A5-B559-4D45-8A82-D33E5E3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3">
            <a:extLst xmlns:a="http://schemas.openxmlformats.org/drawingml/2006/main">
              <a:ext uri="{FF2B5EF4-FFF2-40B4-BE49-F238E27FC236}">
                <a16:creationId xmlns:a16="http://schemas.microsoft.com/office/drawing/2014/main" id="{BA539592-F3F3-4A5A-87CB-6E830F11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ind-title">
            <a:extLst xmlns:a="http://schemas.openxmlformats.org/drawingml/2006/main">
              <a:ext uri="{FF2B5EF4-FFF2-40B4-BE49-F238E27FC236}">
                <a16:creationId xmlns:a16="http://schemas.microsoft.com/office/drawing/2014/main" id="{2785EF89-22ED-4968-9009-D970FC3D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FIND</a:t>
            </a:r>
          </a:p>
        </p:txBody>
      </p:sp>
      <p:sp>
        <p:nvSpPr>
          <p:cNvPr id="8" name="find-body">
            <a:extLst xmlns:a="http://schemas.openxmlformats.org/drawingml/2006/main">
              <a:ext uri="{FF2B5EF4-FFF2-40B4-BE49-F238E27FC236}">
                <a16:creationId xmlns:a16="http://schemas.microsoft.com/office/drawing/2014/main" id="{2D3CF54A-A897-45BC-8712-F56D7BD1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304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Where did it first appear?</a:t>
            </a:r>
          </a:p>
        </p:txBody>
      </p:sp>
      <p:sp>
        <p:nvSpPr>
          <p:cNvPr id="9" name="compare-title">
            <a:extLst xmlns:a="http://schemas.openxmlformats.org/drawingml/2006/main">
              <a:ext uri="{FF2B5EF4-FFF2-40B4-BE49-F238E27FC236}">
                <a16:creationId xmlns:a16="http://schemas.microsoft.com/office/drawing/2014/main" id="{5534A948-385A-4B3F-B497-F0144EC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COMPARE</a:t>
            </a:r>
          </a:p>
        </p:txBody>
      </p:sp>
      <p:sp>
        <p:nvSpPr>
          <p:cNvPr id="10" name="compare-body">
            <a:extLst xmlns:a="http://schemas.openxmlformats.org/drawingml/2006/main">
              <a:ext uri="{FF2B5EF4-FFF2-40B4-BE49-F238E27FC236}">
                <a16:creationId xmlns:a16="http://schemas.microsoft.com/office/drawing/2014/main" id="{CDAB80ED-FC9B-4F88-97F5-6825742D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238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Do two reliable sources agree?</a:t>
            </a:r>
          </a:p>
        </p:txBody>
      </p:sp>
      <p:sp>
        <p:nvSpPr>
          <p:cNvPr id="11" name="ask-title">
            <a:extLst xmlns:a="http://schemas.openxmlformats.org/drawingml/2006/main">
              <a:ext uri="{FF2B5EF4-FFF2-40B4-BE49-F238E27FC236}">
                <a16:creationId xmlns:a16="http://schemas.microsoft.com/office/drawing/2014/main" id="{BEEA8569-8D58-41BF-9680-619A4CCB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ASK</a:t>
            </a:r>
          </a:p>
        </p:txBody>
      </p:sp>
      <p:sp>
        <p:nvSpPr>
          <p:cNvPr id="12" name="ask-body">
            <a:extLst xmlns:a="http://schemas.openxmlformats.org/drawingml/2006/main">
              <a:ext uri="{FF2B5EF4-FFF2-40B4-BE49-F238E27FC236}">
                <a16:creationId xmlns:a16="http://schemas.microsoft.com/office/drawing/2014/main" id="{E204FBEC-F5BA-4DC0-9294-E406B467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333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Can a trusted adult or expert help?</a:t>
            </a:r>
          </a:p>
        </p:txBody>
      </p:sp>
      <p:sp>
        <p:nvSpPr>
          <p:cNvPr id="13" name="source-takeaway">
            <a:extLst xmlns:a="http://schemas.openxmlformats.org/drawingml/2006/main">
              <a:ext uri="{FF2B5EF4-FFF2-40B4-BE49-F238E27FC236}">
                <a16:creationId xmlns:a16="http://schemas.microsoft.com/office/drawing/2014/main" id="{31DE4C05-6754-46E3-977E-BC5CCEA3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10668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Best sources are close to the facts. A random group chat is not a science agency—even if it has 67 messages.</a:t>
            </a:r>
          </a:p>
        </p:txBody>
      </p:sp>
    </p:spTree>
    <p:extLst>
      <p:ext uri="{BB962C8B-B14F-4D97-AF65-F5344CB8AC3E}">
        <p14:creationId xmlns:p14="http://schemas.microsoft.com/office/powerpoint/2010/main" val="7009003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AE3B3C51-A481-4E8B-B4A4-B645D172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screenshot is a clue—not the original source</a:t>
            </a:r>
          </a:p>
        </p:txBody>
      </p:sp>
      <p:sp>
        <p:nvSpPr>
          <p:cNvPr id="2" name="slide-13-number">
            <a:extLst xmlns:a="http://schemas.openxmlformats.org/drawingml/2006/main">
              <a:ext uri="{FF2B5EF4-FFF2-40B4-BE49-F238E27FC236}">
                <a16:creationId xmlns:a16="http://schemas.microsoft.com/office/drawing/2014/main" id="{15FDCB69-85B2-4DD8-A4A4-30E1EA00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3" name="tool-zoom-title">
            <a:extLst xmlns:a="http://schemas.openxmlformats.org/drawingml/2006/main">
              <a:ext uri="{FF2B5EF4-FFF2-40B4-BE49-F238E27FC236}">
                <a16:creationId xmlns:a16="http://schemas.microsoft.com/office/drawing/2014/main" id="{BEE90523-6BB4-46DC-B82B-C26FF933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228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ZOOM</a:t>
            </a:r>
          </a:p>
        </p:txBody>
      </p:sp>
      <p:sp>
        <p:nvSpPr>
          <p:cNvPr id="4" name="tool-zoom-body">
            <a:extLst xmlns:a="http://schemas.openxmlformats.org/drawingml/2006/main">
              <a:ext uri="{FF2B5EF4-FFF2-40B4-BE49-F238E27FC236}">
                <a16:creationId xmlns:a16="http://schemas.microsoft.com/office/drawing/2014/main" id="{549FB991-EA26-4197-A741-7E6B7B58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23336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Check hands, text, edges, and backgrounds.</a:t>
            </a:r>
          </a:p>
        </p:txBody>
      </p:sp>
      <p:sp>
        <p:nvSpPr>
          <p:cNvPr id="5" name="tool-trace-title">
            <a:extLst xmlns:a="http://schemas.openxmlformats.org/drawingml/2006/main">
              <a:ext uri="{FF2B5EF4-FFF2-40B4-BE49-F238E27FC236}">
                <a16:creationId xmlns:a16="http://schemas.microsoft.com/office/drawing/2014/main" id="{99152813-43CF-460C-B3C0-F66CC8D9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33550"/>
            <a:ext cx="228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TRACE</a:t>
            </a:r>
          </a:p>
        </p:txBody>
      </p:sp>
      <p:sp>
        <p:nvSpPr>
          <p:cNvPr id="6" name="tool-trace-body">
            <a:extLst xmlns:a="http://schemas.openxmlformats.org/drawingml/2006/main">
              <a:ext uri="{FF2B5EF4-FFF2-40B4-BE49-F238E27FC236}">
                <a16:creationId xmlns:a16="http://schemas.microsoft.com/office/drawing/2014/main" id="{CD2C085C-37B5-41D0-BD46-71203111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23336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Find the earliest post, full video, or full quote.</a:t>
            </a:r>
          </a:p>
        </p:txBody>
      </p:sp>
      <p:sp>
        <p:nvSpPr>
          <p:cNvPr id="7" name="tool-compare-title">
            <a:extLst xmlns:a="http://schemas.openxmlformats.org/drawingml/2006/main">
              <a:ext uri="{FF2B5EF4-FFF2-40B4-BE49-F238E27FC236}">
                <a16:creationId xmlns:a16="http://schemas.microsoft.com/office/drawing/2014/main" id="{55EE8199-E432-4E87-AD41-33850352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33550"/>
            <a:ext cx="228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COMPARE</a:t>
            </a:r>
          </a:p>
        </p:txBody>
      </p:sp>
      <p:sp>
        <p:nvSpPr>
          <p:cNvPr id="8" name="tool-compare-body">
            <a:extLst xmlns:a="http://schemas.openxmlformats.org/drawingml/2006/main">
              <a:ext uri="{FF2B5EF4-FFF2-40B4-BE49-F238E27FC236}">
                <a16:creationId xmlns:a16="http://schemas.microsoft.com/office/drawing/2014/main" id="{A0E57283-C2F5-4CF6-8886-C24E1321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33625"/>
            <a:ext cx="23336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Look for two reliable sources that agree.</a:t>
            </a:r>
          </a:p>
        </p:txBody>
      </p:sp>
      <p:sp>
        <p:nvSpPr>
          <p:cNvPr id="9" name="tool-ask-title">
            <a:extLst xmlns:a="http://schemas.openxmlformats.org/drawingml/2006/main">
              <a:ext uri="{FF2B5EF4-FFF2-40B4-BE49-F238E27FC236}">
                <a16:creationId xmlns:a16="http://schemas.microsoft.com/office/drawing/2014/main" id="{35A83769-14CC-4860-B99E-78CAAA5A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33550"/>
            <a:ext cx="228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ASK</a:t>
            </a:r>
          </a:p>
        </p:txBody>
      </p:sp>
      <p:sp>
        <p:nvSpPr>
          <p:cNvPr id="10" name="tool-ask-body">
            <a:extLst xmlns:a="http://schemas.openxmlformats.org/drawingml/2006/main">
              <a:ext uri="{FF2B5EF4-FFF2-40B4-BE49-F238E27FC236}">
                <a16:creationId xmlns:a16="http://schemas.microsoft.com/office/drawing/2014/main" id="{57B62705-A9D6-4154-8CDD-B189A6A3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33625"/>
            <a:ext cx="23336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Bring important or harmful claims to a trusted adult.</a:t>
            </a:r>
          </a:p>
        </p:txBody>
      </p:sp>
      <p:sp>
        <p:nvSpPr>
          <p:cNvPr id="11" name="toolbox-rule">
            <a:extLst xmlns:a="http://schemas.openxmlformats.org/drawingml/2006/main">
              <a:ext uri="{FF2B5EF4-FFF2-40B4-BE49-F238E27FC236}">
                <a16:creationId xmlns:a16="http://schemas.microsoft.com/office/drawing/2014/main" id="{02EC22A6-C8CF-4E19-B392-7535CBED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11401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olbox-takeaway">
            <a:extLst xmlns:a="http://schemas.openxmlformats.org/drawingml/2006/main">
              <a:ext uri="{FF2B5EF4-FFF2-40B4-BE49-F238E27FC236}">
                <a16:creationId xmlns:a16="http://schemas.microsoft.com/office/drawing/2014/main" id="{EBDA8E5D-D4A0-411E-84AC-4DA47F3B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10668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Fast does not mean careless. A 30-second check can stop a false story from spreading.</a:t>
            </a:r>
          </a:p>
        </p:txBody>
      </p:sp>
    </p:spTree>
    <p:extLst>
      <p:ext uri="{BB962C8B-B14F-4D97-AF65-F5344CB8AC3E}">
        <p14:creationId xmlns:p14="http://schemas.microsoft.com/office/powerpoint/2010/main" val="2993863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8B189BEC-D8D2-4125-92EB-F493C6D2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Protect people while you investigate</a:t>
            </a:r>
          </a:p>
        </p:txBody>
      </p:sp>
      <p:sp>
        <p:nvSpPr>
          <p:cNvPr id="2" name="slide-14-number">
            <a:extLst xmlns:a="http://schemas.openxmlformats.org/drawingml/2006/main">
              <a:ext uri="{FF2B5EF4-FFF2-40B4-BE49-F238E27FC236}">
                <a16:creationId xmlns:a16="http://schemas.microsoft.com/office/drawing/2014/main" id="{F6317A92-FAF9-4E35-9654-336C8F8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3" name="do-title">
            <a:extLst xmlns:a="http://schemas.openxmlformats.org/drawingml/2006/main">
              <a:ext uri="{FF2B5EF4-FFF2-40B4-BE49-F238E27FC236}">
                <a16:creationId xmlns:a16="http://schemas.microsoft.com/office/drawing/2014/main" id="{65B7DEFD-8C61-4345-AC12-B473B97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5238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DO</a:t>
            </a:r>
          </a:p>
        </p:txBody>
      </p:sp>
      <p:sp>
        <p:nvSpPr>
          <p:cNvPr id="4" name="do-list">
            <a:extLst xmlns:a="http://schemas.openxmlformats.org/drawingml/2006/main">
              <a:ext uri="{FF2B5EF4-FFF2-40B4-BE49-F238E27FC236}">
                <a16:creationId xmlns:a16="http://schemas.microsoft.com/office/drawing/2014/main" id="{4059DD57-A1C9-4480-8256-E6908CC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53340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✓ Keep private details private
✓ Ask before sharing someone’s image
✓ Tell an adult about scary or harmful content</a:t>
            </a:r>
          </a:p>
        </p:txBody>
      </p:sp>
      <p:sp>
        <p:nvSpPr>
          <p:cNvPr id="5" name="safety-rule">
            <a:extLst xmlns:a="http://schemas.openxmlformats.org/drawingml/2006/main">
              <a:ext uri="{FF2B5EF4-FFF2-40B4-BE49-F238E27FC236}">
                <a16:creationId xmlns:a16="http://schemas.microsoft.com/office/drawing/2014/main" id="{CFB5F008-72F2-4C91-BFF2-462A2D7F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nt-title">
            <a:extLst xmlns:a="http://schemas.openxmlformats.org/drawingml/2006/main">
              <a:ext uri="{FF2B5EF4-FFF2-40B4-BE49-F238E27FC236}">
                <a16:creationId xmlns:a16="http://schemas.microsoft.com/office/drawing/2014/main" id="{73BC2FFC-D88F-473A-A8C4-A75BC3D5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DON’T</a:t>
            </a:r>
          </a:p>
        </p:txBody>
      </p:sp>
      <p:sp>
        <p:nvSpPr>
          <p:cNvPr id="7" name="dont-list">
            <a:extLst xmlns:a="http://schemas.openxmlformats.org/drawingml/2006/main">
              <a:ext uri="{FF2B5EF4-FFF2-40B4-BE49-F238E27FC236}">
                <a16:creationId xmlns:a16="http://schemas.microsoft.com/office/drawing/2014/main" id="{EF2D95EF-4CE5-4868-8567-90B432AD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7625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× Upload faces, names, or locations
× Use fake media to embarrass someone
× Keep harmful content secret</a:t>
            </a:r>
          </a:p>
        </p:txBody>
      </p:sp>
      <p:sp>
        <p:nvSpPr>
          <p:cNvPr id="8" name="kindness-line">
            <a:extLst xmlns:a="http://schemas.openxmlformats.org/drawingml/2006/main">
              <a:ext uri="{FF2B5EF4-FFF2-40B4-BE49-F238E27FC236}">
                <a16:creationId xmlns:a16="http://schemas.microsoft.com/office/drawing/2014/main" id="{7B5471B8-8D08-4245-A140-3C06E764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857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Being a good detective also means being kind.</a:t>
            </a:r>
          </a:p>
        </p:txBody>
      </p:sp>
    </p:spTree>
    <p:extLst>
      <p:ext uri="{BB962C8B-B14F-4D97-AF65-F5344CB8AC3E}">
        <p14:creationId xmlns:p14="http://schemas.microsoft.com/office/powerpoint/2010/main" val="16065072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edge-eyebrow">
            <a:extLst xmlns:a="http://schemas.openxmlformats.org/drawingml/2006/main">
              <a:ext uri="{FF2B5EF4-FFF2-40B4-BE49-F238E27FC236}">
                <a16:creationId xmlns:a16="http://schemas.microsoft.com/office/drawing/2014/main" id="{6FD61409-464A-4FE1-8B75-BCE29FAD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YOUR DETECTIVE PLEDGE</a:t>
            </a:r>
          </a:p>
        </p:txBody>
      </p:sp>
      <p:sp>
        <p:nvSpPr>
          <p:cNvPr id="2" name="pledge-title">
            <a:extLst xmlns:a="http://schemas.openxmlformats.org/drawingml/2006/main">
              <a:ext uri="{FF2B5EF4-FFF2-40B4-BE49-F238E27FC236}">
                <a16:creationId xmlns:a16="http://schemas.microsoft.com/office/drawing/2014/main" id="{A92E035E-2FC0-4C7F-9612-DD9C1308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28700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Pause. Look closely.
Check before sharing.</a:t>
            </a:r>
          </a:p>
        </p:txBody>
      </p:sp>
      <p:sp>
        <p:nvSpPr>
          <p:cNvPr id="3" name="pledge-values">
            <a:extLst xmlns:a="http://schemas.openxmlformats.org/drawingml/2006/main">
              <a:ext uri="{FF2B5EF4-FFF2-40B4-BE49-F238E27FC236}">
                <a16:creationId xmlns:a16="http://schemas.microsoft.com/office/drawing/2014/main" id="{3A601CBA-26BC-45CD-8647-BC37EED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29175"/>
            <a:ext cx="781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Be curious • Be careful • Be kind</a:t>
            </a:r>
          </a:p>
        </p:txBody>
      </p:sp>
      <p:sp>
        <p:nvSpPr>
          <p:cNvPr id="4" name="pledge-question">
            <a:extLst xmlns:a="http://schemas.openxmlformats.org/drawingml/2006/main">
              <a:ext uri="{FF2B5EF4-FFF2-40B4-BE49-F238E27FC236}">
                <a16:creationId xmlns:a16="http://schemas.microsoft.com/office/drawing/2014/main" id="{67AA50AE-AC94-488F-B404-D9AAC79F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028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Final question: What is the first move an AI detective makes? (Not ‘ask the raccoon.’)</a:t>
            </a:r>
          </a:p>
        </p:txBody>
      </p:sp>
    </p:spTree>
    <p:extLst>
      <p:ext uri="{BB962C8B-B14F-4D97-AF65-F5344CB8AC3E}">
        <p14:creationId xmlns:p14="http://schemas.microsoft.com/office/powerpoint/2010/main" val="1629342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2026-07-14T23:06:14.0000000Z</dcterms:created>
  <dcterms:modified xsi:type="dcterms:W3CDTF">2026-07-14T23:06:14.0000000Z</dcterms:modified>
</coreProperties>
</file>