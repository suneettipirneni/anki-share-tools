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822e3de47442c4" /><Relationship Type="http://schemas.openxmlformats.org/officeDocument/2006/relationships/extended-properties" Target="/docProps/app.xml" Id="R7c48dc26d6374d93" /><Relationship Type="http://schemas.openxmlformats.org/officeDocument/2006/relationships/officeDocument" Target="/ppt/presentation.xml" Id="Rbac89720931e41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264c00e5141c0"/>
  </p:sldMasterIdLst>
  <p:notesMasterIdLst>
    <p:notesMasterId xmlns:r="http://schemas.openxmlformats.org/officeDocument/2006/relationships" r:id="R39ec003106a24f04"/>
  </p:notesMasterIdLst>
  <p:sldIdLst>
    <p:sldId xmlns:r="http://schemas.openxmlformats.org/officeDocument/2006/relationships" id="256" r:id="Raffffa172cd54056"/>
    <p:sldId xmlns:r="http://schemas.openxmlformats.org/officeDocument/2006/relationships" id="257" r:id="R33460f2e57524186"/>
    <p:sldId xmlns:r="http://schemas.openxmlformats.org/officeDocument/2006/relationships" id="258" r:id="R805e8274361e4dfb"/>
    <p:sldId xmlns:r="http://schemas.openxmlformats.org/officeDocument/2006/relationships" id="259" r:id="R4253572b81394bd2"/>
    <p:sldId xmlns:r="http://schemas.openxmlformats.org/officeDocument/2006/relationships" id="260" r:id="R3bda3b9f9c9b47ab"/>
    <p:sldId xmlns:r="http://schemas.openxmlformats.org/officeDocument/2006/relationships" id="261" r:id="Rc81a4de582af41eb"/>
    <p:sldId xmlns:r="http://schemas.openxmlformats.org/officeDocument/2006/relationships" id="262" r:id="Rc62290f5c20d40b0"/>
    <p:sldId xmlns:r="http://schemas.openxmlformats.org/officeDocument/2006/relationships" id="263" r:id="Rab6b812cfb9a41eb"/>
    <p:sldId xmlns:r="http://schemas.openxmlformats.org/officeDocument/2006/relationships" id="264" r:id="R5d17cb3a87204407"/>
    <p:sldId xmlns:r="http://schemas.openxmlformats.org/officeDocument/2006/relationships" id="265" r:id="R21fac1ea321f46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b9d5d0a3334bbc" /><Relationship Type="http://schemas.openxmlformats.org/officeDocument/2006/relationships/slideMaster" Target="/ppt/slideMasters/slideMaster1.xml" Id="Rf75264c00e5141c0" /><Relationship Type="http://schemas.openxmlformats.org/officeDocument/2006/relationships/notesMaster" Target="/ppt/notesMasters/notesMaster1.xml" Id="R39ec003106a24f04" /><Relationship Type="http://schemas.openxmlformats.org/officeDocument/2006/relationships/presProps" Target="/ppt/presProps.xml" Id="Racd27fc7d10240d8" /><Relationship Type="http://schemas.openxmlformats.org/officeDocument/2006/relationships/tableStyles" Target="/ppt/tableStyles.xml" Id="Rfc9b60390f3040b4" /><Relationship Type="http://schemas.openxmlformats.org/officeDocument/2006/relationships/slide" Target="/ppt/slides/slide1.xml" Id="Raffffa172cd54056" /><Relationship Type="http://schemas.openxmlformats.org/officeDocument/2006/relationships/slide" Target="/ppt/slides/slide2.xml" Id="R33460f2e57524186" /><Relationship Type="http://schemas.openxmlformats.org/officeDocument/2006/relationships/slide" Target="/ppt/slides/slide3.xml" Id="R805e8274361e4dfb" /><Relationship Type="http://schemas.openxmlformats.org/officeDocument/2006/relationships/slide" Target="/ppt/slides/slide4.xml" Id="R4253572b81394bd2" /><Relationship Type="http://schemas.openxmlformats.org/officeDocument/2006/relationships/slide" Target="/ppt/slides/slide5.xml" Id="R3bda3b9f9c9b47ab" /><Relationship Type="http://schemas.openxmlformats.org/officeDocument/2006/relationships/slide" Target="/ppt/slides/slide6.xml" Id="Rc81a4de582af41eb" /><Relationship Type="http://schemas.openxmlformats.org/officeDocument/2006/relationships/slide" Target="/ppt/slides/slide7.xml" Id="Rc62290f5c20d40b0" /><Relationship Type="http://schemas.openxmlformats.org/officeDocument/2006/relationships/slide" Target="/ppt/slides/slide8.xml" Id="Rab6b812cfb9a41eb" /><Relationship Type="http://schemas.openxmlformats.org/officeDocument/2006/relationships/slide" Target="/ppt/slides/slide9.xml" Id="R5d17cb3a87204407" /><Relationship Type="http://schemas.openxmlformats.org/officeDocument/2006/relationships/slide" Target="/ppt/slides/slide10.xml" Id="R21fac1ea321f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b61d20c249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1fab8f5584444" /><Relationship Type="http://schemas.openxmlformats.org/officeDocument/2006/relationships/notesMaster" Target="/ppt/notesMasters/notesMaster1.xml" Id="Re7dfcfd921ab44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acc1dd13ce4b97" /><Relationship Type="http://schemas.openxmlformats.org/officeDocument/2006/relationships/notesMaster" Target="/ppt/notesMasters/notesMaster1.xml" Id="R912da9b79c1543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426fb4da84eeb" /><Relationship Type="http://schemas.openxmlformats.org/officeDocument/2006/relationships/notesMaster" Target="/ppt/notesMasters/notesMaster1.xml" Id="Rcd21d000bddb42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d6590e3f914efe" /><Relationship Type="http://schemas.openxmlformats.org/officeDocument/2006/relationships/notesMaster" Target="/ppt/notesMasters/notesMaster1.xml" Id="R9fe153e99fcd40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1b66a54634869" /><Relationship Type="http://schemas.openxmlformats.org/officeDocument/2006/relationships/notesMaster" Target="/ppt/notesMasters/notesMaster1.xml" Id="Rc531651ff0f243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a29874829c4aa6" /><Relationship Type="http://schemas.openxmlformats.org/officeDocument/2006/relationships/notesMaster" Target="/ppt/notesMasters/notesMaster1.xml" Id="R0128c1eeba6a45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ab978991434e7d" /><Relationship Type="http://schemas.openxmlformats.org/officeDocument/2006/relationships/notesMaster" Target="/ppt/notesMasters/notesMaster1.xml" Id="R5a961e80397c4e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337d9f88ff4e7d" /><Relationship Type="http://schemas.openxmlformats.org/officeDocument/2006/relationships/notesMaster" Target="/ppt/notesMasters/notesMaster1.xml" Id="R979fb1803dac44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e9ee36dfdf4bd1" /><Relationship Type="http://schemas.openxmlformats.org/officeDocument/2006/relationships/notesMaster" Target="/ppt/notesMasters/notesMaster1.xml" Id="Rcbad283de18e42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7a8768c74442c4" /><Relationship Type="http://schemas.openxmlformats.org/officeDocument/2006/relationships/notesMaster" Target="/ppt/notesMasters/notesMaster1.xml" Id="Rdb396447d60a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Ask: ‘Who has ever seen a picture or answer online that looked real but felt a little weird?’</a:t>
            </a:r>
          </a:p>
          <a:p xmlns:a="http://schemas.openxmlformats.org/drawingml/2006/main">
            <a:r>
              <a:t>Tell students they are joining an AI detective squad. Their job is curiosity, not catching people 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Have students vote A, B, or C with their hands. Accept B and C as detective moves; emphasize that checking the closest reliable source is strongest.</a:t>
            </a:r>
          </a:p>
          <a:p xmlns:a="http://schemas.openxmlformats.org/drawingml/2006/main">
            <a:r>
              <a:t>Key line: Confidence is a style. Evidence is what makes a claim trustworthy.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Ask for one example students have seen in each column.</a:t>
            </a:r>
          </a:p>
          <a:p xmlns:a="http://schemas.openxmlformats.org/drawingml/2006/main">
            <a:r>
              <a:t>Clarify: AI-made does not always mean bad or false. It means we should know what we are looking at and check important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 the four moves with hand motions: palm out for Pause, pretend magnifying glass for Inspect, two fingers comparing for Check, thumbs choice for Decide.</a:t>
            </a:r>
          </a:p>
          <a:p xmlns:a="http://schemas.openxmlformats.org/drawingml/2006/main">
            <a:r>
              <a:t>Have the group repeat the four words once.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Give students 30–45 seconds of silent looking, then take answers. Do not reveal all clues until the next slide.</a:t>
            </a:r>
          </a:p>
          <a:p xmlns:a="http://schemas.openxmlformats.org/drawingml/2006/main">
            <a:r>
              <a:t>Reminder: One odd detail does not prove AI. It is a reason to inspect and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Reveal the five planned oddities. Praise observations even if students found other plausible details.</a:t>
            </a:r>
          </a:p>
          <a:p xmlns:a="http://schemas.openxmlformats.org/drawingml/2006/main">
            <a:r>
              <a:t>Stress the key distinction: clues start an investigation; they do not finish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Ask students what words or ideas they would check. Then reveal the verdict.</a:t>
            </a:r>
          </a:p>
          <a:p xmlns:a="http://schemas.openxmlformats.org/drawingml/2006/main">
            <a:r>
              <a:t>Explain that AI often predicts a plausible-sounding next sentence; it does not automatically verify each 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Give quick examples and ask for the closest source: weather warning, camp schedule change, animal fact.</a:t>
            </a:r>
          </a:p>
          <a:p xmlns:a="http://schemas.openxmlformats.org/drawingml/2006/main">
            <a:r>
              <a:t>If devices are available, demonstrate opening a second trustworthy source. Otherwise keep it verbal.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Keep this practical and calm. Invite students to name a trusted adult at camp they can go to.</a:t>
            </a:r>
          </a:p>
          <a:p xmlns:a="http://schemas.openxmlformats.org/drawingml/2006/main">
            <a:r>
              <a:t>Emphasize: do not re-share harmful or embarrassing content as ‘evidence.’ Show it privately to an adult instead.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Ask the final question; the group answers ‘Pause!’ Then repeat the full method together: Pause, Inspect, Check, Decide.</a:t>
            </a:r>
          </a:p>
          <a:p xmlns:a="http://schemas.openxmlformats.org/drawingml/2006/main">
            <a:r>
              <a:t>Close with the pledge line. Optional: appoint everyone an official AI Detective for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694e8330642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4fcd721ba14801" /><Relationship Type="http://schemas.openxmlformats.org/officeDocument/2006/relationships/slideLayout" Target="/ppt/slideLayouts/slideLayout1.xml" Id="R4576831f0d4f4e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76831f0d4f4e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8b6878d634154" /><Relationship Type="http://schemas.openxmlformats.org/officeDocument/2006/relationships/notesSlide" Target="/ppt/notesSlides/notesSlide1.xml" Id="Rd904b9a2110c40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65958cf444502" /><Relationship Type="http://schemas.openxmlformats.org/officeDocument/2006/relationships/notesSlide" Target="/ppt/notesSlides/notesSlide2.xml" Id="R4e8512a713b64f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6c9fb027c4728" /><Relationship Type="http://schemas.openxmlformats.org/officeDocument/2006/relationships/notesSlide" Target="/ppt/notesSlides/notesSlide3.xml" Id="R0afcabd0aeba48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3d5afd1e34de4" /><Relationship Type="http://schemas.openxmlformats.org/officeDocument/2006/relationships/notesSlide" Target="/ppt/notesSlides/notesSlide4.xml" Id="R41a7ec1cdcd9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b3a24fc9f43ba" /><Relationship Type="http://schemas.openxmlformats.org/officeDocument/2006/relationships/image" Target="/ppt/media/image.png" Id="R1d3e357f92944fce" /><Relationship Type="http://schemas.openxmlformats.org/officeDocument/2006/relationships/notesSlide" Target="/ppt/notesSlides/notesSlide5.xml" Id="Rf04ddbc85f8645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5ab5e053849d4" /><Relationship Type="http://schemas.openxmlformats.org/officeDocument/2006/relationships/notesSlide" Target="/ppt/notesSlides/notesSlide6.xml" Id="Rf0fbb898889a46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3d3e12826436a" /><Relationship Type="http://schemas.openxmlformats.org/officeDocument/2006/relationships/notesSlide" Target="/ppt/notesSlides/notesSlide7.xml" Id="Ra38ac43ce31746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c8c0f96124d2d" /><Relationship Type="http://schemas.openxmlformats.org/officeDocument/2006/relationships/notesSlide" Target="/ppt/notesSlides/notesSlide8.xml" Id="Rbfc5a3c222e940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792af86204a03" /><Relationship Type="http://schemas.openxmlformats.org/officeDocument/2006/relationships/notesSlide" Target="/ppt/notesSlides/notesSlide9.xml" Id="Rac6c3b6645e14c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1a511a074498d" /><Relationship Type="http://schemas.openxmlformats.org/officeDocument/2006/relationships/notesSlide" Target="/ppt/notesSlides/notesSlide10.xml" Id="Rb005000542864b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B15C1F2-74AD-4FA4-9355-73035B15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28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CAMP CHALLENGE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11C9A8-C752-44ED-9653-C0E3C642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952500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Being an
AI Detective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9231238-A277-4BDB-9F2A-97A46EF1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7810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Can you spot what’s real, what’s weird, and what needs checking?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F439F48-2F2A-46E4-A34C-28ED3413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0050"/>
            <a:ext cx="1266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7243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D36814D-C87D-4402-A2CD-73748609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message can look confident and still be wrong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3DBE94ED-2BFE-4C85-8892-22046548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share-prompt">
            <a:extLst xmlns:a="http://schemas.openxmlformats.org/drawingml/2006/main">
              <a:ext uri="{FF2B5EF4-FFF2-40B4-BE49-F238E27FC236}">
                <a16:creationId xmlns:a16="http://schemas.microsoft.com/office/drawing/2014/main" id="{882C4F22-59C5-429E-BEF0-9B35FE0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447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Your friend sends this:</a:t>
            </a:r>
          </a:p>
        </p:txBody>
      </p:sp>
      <p:sp>
        <p:nvSpPr>
          <p:cNvPr id="4" name="message-panel">
            <a:extLst xmlns:a="http://schemas.openxmlformats.org/drawingml/2006/main">
              <a:ext uri="{FF2B5EF4-FFF2-40B4-BE49-F238E27FC236}">
                <a16:creationId xmlns:a16="http://schemas.microsoft.com/office/drawing/2014/main" id="{14B7963D-23C5-44D7-B6F8-2FE670E1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6819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message-text">
            <a:extLst xmlns:a="http://schemas.openxmlformats.org/drawingml/2006/main">
              <a:ext uri="{FF2B5EF4-FFF2-40B4-BE49-F238E27FC236}">
                <a16:creationId xmlns:a16="http://schemas.microsoft.com/office/drawing/2014/main" id="{E2F05D9A-51CB-4F4D-9496-8CD3295D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“Camp is cancelled tomorrow.
An AI app told me.”</a:t>
            </a:r>
          </a:p>
        </p:txBody>
      </p:sp>
      <p:sp>
        <p:nvSpPr>
          <p:cNvPr id="6" name="decision-question">
            <a:extLst xmlns:a="http://schemas.openxmlformats.org/drawingml/2006/main">
              <a:ext uri="{FF2B5EF4-FFF2-40B4-BE49-F238E27FC236}">
                <a16:creationId xmlns:a16="http://schemas.microsoft.com/office/drawing/2014/main" id="{A37FE07C-9A08-42CB-AEC6-EF872932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3905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What do you do?</a:t>
            </a:r>
          </a:p>
        </p:txBody>
      </p:sp>
      <p:sp>
        <p:nvSpPr>
          <p:cNvPr id="7" name="decision-options">
            <a:extLst xmlns:a="http://schemas.openxmlformats.org/drawingml/2006/main">
              <a:ext uri="{FF2B5EF4-FFF2-40B4-BE49-F238E27FC236}">
                <a16:creationId xmlns:a16="http://schemas.microsoft.com/office/drawing/2014/main" id="{6D1F2367-7756-4A1D-A046-2E38F595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905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 Share it fast
B  Ask where it came from
C  Check with camp staff</a:t>
            </a:r>
          </a:p>
        </p:txBody>
      </p:sp>
      <p:sp>
        <p:nvSpPr>
          <p:cNvPr id="8" name="decision-takeaway">
            <a:extLst xmlns:a="http://schemas.openxmlformats.org/drawingml/2006/main">
              <a:ext uri="{FF2B5EF4-FFF2-40B4-BE49-F238E27FC236}">
                <a16:creationId xmlns:a16="http://schemas.microsoft.com/office/drawing/2014/main" id="{38484514-8676-4C90-A039-C7A0EA0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14950"/>
            <a:ext cx="933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Detectives pause before they pass it on.</a:t>
            </a:r>
          </a:p>
        </p:txBody>
      </p:sp>
    </p:spTree>
    <p:extLst>
      <p:ext uri="{BB962C8B-B14F-4D97-AF65-F5344CB8AC3E}">
        <p14:creationId xmlns:p14="http://schemas.microsoft.com/office/powerpoint/2010/main" val="53657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51ABBDC-ED03-4DB0-BD67-E74456BE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AI can make convincing words, pictures, and voices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146725F4-485C-4207-A26A-C0A397A4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" name="words-label">
            <a:extLst xmlns:a="http://schemas.openxmlformats.org/drawingml/2006/main">
              <a:ext uri="{FF2B5EF4-FFF2-40B4-BE49-F238E27FC236}">
                <a16:creationId xmlns:a16="http://schemas.microsoft.com/office/drawing/2014/main" id="{D8FB89D4-9056-4943-AE9B-B5C4B2A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WORDS</a:t>
            </a:r>
          </a:p>
        </p:txBody>
      </p:sp>
      <p:sp>
        <p:nvSpPr>
          <p:cNvPr id="4" name="words-list">
            <a:extLst xmlns:a="http://schemas.openxmlformats.org/drawingml/2006/main">
              <a:ext uri="{FF2B5EF4-FFF2-40B4-BE49-F238E27FC236}">
                <a16:creationId xmlns:a16="http://schemas.microsoft.com/office/drawing/2014/main" id="{458AD5E8-DD8F-41A4-B44F-F5ACAB4D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Stories
Answers
Messages</a:t>
            </a:r>
          </a:p>
        </p:txBody>
      </p:sp>
      <p:sp>
        <p:nvSpPr>
          <p:cNvPr id="5" name="pictures-label">
            <a:extLst xmlns:a="http://schemas.openxmlformats.org/drawingml/2006/main">
              <a:ext uri="{FF2B5EF4-FFF2-40B4-BE49-F238E27FC236}">
                <a16:creationId xmlns:a16="http://schemas.microsoft.com/office/drawing/2014/main" id="{E660A1FA-3C7E-4D9E-B44C-2F5490B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PICTURES</a:t>
            </a:r>
          </a:p>
        </p:txBody>
      </p:sp>
      <p:sp>
        <p:nvSpPr>
          <p:cNvPr id="6" name="pictures-list">
            <a:extLst xmlns:a="http://schemas.openxmlformats.org/drawingml/2006/main">
              <a:ext uri="{FF2B5EF4-FFF2-40B4-BE49-F238E27FC236}">
                <a16:creationId xmlns:a16="http://schemas.microsoft.com/office/drawing/2014/main" id="{13507118-EEE1-4195-8629-C678076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People
Places
Events</a:t>
            </a:r>
          </a:p>
        </p:txBody>
      </p:sp>
      <p:sp>
        <p:nvSpPr>
          <p:cNvPr id="7" name="sounds-label">
            <a:extLst xmlns:a="http://schemas.openxmlformats.org/drawingml/2006/main">
              <a:ext uri="{FF2B5EF4-FFF2-40B4-BE49-F238E27FC236}">
                <a16:creationId xmlns:a16="http://schemas.microsoft.com/office/drawing/2014/main" id="{523C735E-3525-4C5E-B3B6-02752FF7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SOUNDS</a:t>
            </a:r>
          </a:p>
        </p:txBody>
      </p:sp>
      <p:sp>
        <p:nvSpPr>
          <p:cNvPr id="8" name="sounds-list">
            <a:extLst xmlns:a="http://schemas.openxmlformats.org/drawingml/2006/main">
              <a:ext uri="{FF2B5EF4-FFF2-40B4-BE49-F238E27FC236}">
                <a16:creationId xmlns:a16="http://schemas.microsoft.com/office/drawing/2014/main" id="{3FB93331-F8E6-45DC-AB42-4BE8EE3D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143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Voices
Music
Effects</a:t>
            </a:r>
          </a:p>
        </p:txBody>
      </p:sp>
      <p:sp>
        <p:nvSpPr>
          <p:cNvPr id="9" name="rule-3a">
            <a:extLst xmlns:a="http://schemas.openxmlformats.org/drawingml/2006/main">
              <a:ext uri="{FF2B5EF4-FFF2-40B4-BE49-F238E27FC236}">
                <a16:creationId xmlns:a16="http://schemas.microsoft.com/office/drawing/2014/main" id="{5D3AA144-D3DD-49A1-840E-160E6E73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3b">
            <a:extLst xmlns:a="http://schemas.openxmlformats.org/drawingml/2006/main">
              <a:ext uri="{FF2B5EF4-FFF2-40B4-BE49-F238E27FC236}">
                <a16:creationId xmlns:a16="http://schemas.microsoft.com/office/drawing/2014/main" id="{E9743F62-BD82-4889-B341-1313D742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336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ability-takeaway">
            <a:extLst xmlns:a="http://schemas.openxmlformats.org/drawingml/2006/main">
              <a:ext uri="{FF2B5EF4-FFF2-40B4-BE49-F238E27FC236}">
                <a16:creationId xmlns:a16="http://schemas.microsoft.com/office/drawing/2014/main" id="{69A9B04C-DFB5-44AD-A26D-984C04A8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8096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Useful? Yes. Automatically true? No.</a:t>
            </a:r>
          </a:p>
        </p:txBody>
      </p:sp>
    </p:spTree>
    <p:extLst>
      <p:ext uri="{BB962C8B-B14F-4D97-AF65-F5344CB8AC3E}">
        <p14:creationId xmlns:p14="http://schemas.microsoft.com/office/powerpoint/2010/main" val="521573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21EB31C-1FD2-4753-9582-1709430D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Use four moves whenever something feels surprising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BC721AD1-C9B7-4F59-8CCC-3E3DD13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" name="method-rule">
            <a:extLst xmlns:a="http://schemas.openxmlformats.org/drawingml/2006/main">
              <a:ext uri="{FF2B5EF4-FFF2-40B4-BE49-F238E27FC236}">
                <a16:creationId xmlns:a16="http://schemas.microsoft.com/office/drawing/2014/main" id="{21217FAC-57C1-432A-9571-B7F8EDD0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9925"/>
            <a:ext cx="11401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use-number">
            <a:extLst xmlns:a="http://schemas.openxmlformats.org/drawingml/2006/main">
              <a:ext uri="{FF2B5EF4-FFF2-40B4-BE49-F238E27FC236}">
                <a16:creationId xmlns:a16="http://schemas.microsoft.com/office/drawing/2014/main" id="{60F6521D-5EF3-4AE4-BDB2-5FC48C02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pause-title">
            <a:extLst xmlns:a="http://schemas.openxmlformats.org/drawingml/2006/main">
              <a:ext uri="{FF2B5EF4-FFF2-40B4-BE49-F238E27FC236}">
                <a16:creationId xmlns:a16="http://schemas.microsoft.com/office/drawing/2014/main" id="{D33205E2-F76C-4876-A5CA-1CD5D538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PAUSE</a:t>
            </a:r>
          </a:p>
        </p:txBody>
      </p:sp>
      <p:sp>
        <p:nvSpPr>
          <p:cNvPr id="6" name="pause-body">
            <a:extLst xmlns:a="http://schemas.openxmlformats.org/drawingml/2006/main">
              <a:ext uri="{FF2B5EF4-FFF2-40B4-BE49-F238E27FC236}">
                <a16:creationId xmlns:a16="http://schemas.microsoft.com/office/drawing/2014/main" id="{4CA0EA45-6D4E-47F7-99BD-D25FD2F0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4095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Don’t react or share yet.</a:t>
            </a:r>
          </a:p>
        </p:txBody>
      </p:sp>
      <p:sp>
        <p:nvSpPr>
          <p:cNvPr id="7" name="inspect-number">
            <a:extLst xmlns:a="http://schemas.openxmlformats.org/drawingml/2006/main">
              <a:ext uri="{FF2B5EF4-FFF2-40B4-BE49-F238E27FC236}">
                <a16:creationId xmlns:a16="http://schemas.microsoft.com/office/drawing/2014/main" id="{B0C2C888-8003-49B9-B901-61A60BAB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8" name="inspect-title">
            <a:extLst xmlns:a="http://schemas.openxmlformats.org/drawingml/2006/main">
              <a:ext uri="{FF2B5EF4-FFF2-40B4-BE49-F238E27FC236}">
                <a16:creationId xmlns:a16="http://schemas.microsoft.com/office/drawing/2014/main" id="{5F60FDF4-20B4-4954-A204-3A097E92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9070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INSPECT</a:t>
            </a:r>
          </a:p>
        </p:txBody>
      </p:sp>
      <p:sp>
        <p:nvSpPr>
          <p:cNvPr id="9" name="inspect-body">
            <a:extLst xmlns:a="http://schemas.openxmlformats.org/drawingml/2006/main">
              <a:ext uri="{FF2B5EF4-FFF2-40B4-BE49-F238E27FC236}">
                <a16:creationId xmlns:a16="http://schemas.microsoft.com/office/drawing/2014/main" id="{49F50632-B04F-468F-BBC9-C031DD9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4095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Look for clues and odd details.</a:t>
            </a:r>
          </a:p>
        </p:txBody>
      </p:sp>
      <p:sp>
        <p:nvSpPr>
          <p:cNvPr id="10" name="check-number">
            <a:extLst xmlns:a="http://schemas.openxmlformats.org/drawingml/2006/main">
              <a:ext uri="{FF2B5EF4-FFF2-40B4-BE49-F238E27FC236}">
                <a16:creationId xmlns:a16="http://schemas.microsoft.com/office/drawing/2014/main" id="{B22218DA-EB70-42DE-AF97-9953E530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check-title">
            <a:extLst xmlns:a="http://schemas.openxmlformats.org/drawingml/2006/main">
              <a:ext uri="{FF2B5EF4-FFF2-40B4-BE49-F238E27FC236}">
                <a16:creationId xmlns:a16="http://schemas.microsoft.com/office/drawing/2014/main" id="{E0F7982C-0C4F-4583-9BFB-BABFB964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12" name="check-body">
            <a:extLst xmlns:a="http://schemas.openxmlformats.org/drawingml/2006/main">
              <a:ext uri="{FF2B5EF4-FFF2-40B4-BE49-F238E27FC236}">
                <a16:creationId xmlns:a16="http://schemas.microsoft.com/office/drawing/2014/main" id="{4B2FB11C-0F7C-4E8E-827E-B0D6632A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428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Find the original and compare sources.</a:t>
            </a:r>
          </a:p>
        </p:txBody>
      </p:sp>
      <p:sp>
        <p:nvSpPr>
          <p:cNvPr id="13" name="decide-number">
            <a:extLst xmlns:a="http://schemas.openxmlformats.org/drawingml/2006/main">
              <a:ext uri="{FF2B5EF4-FFF2-40B4-BE49-F238E27FC236}">
                <a16:creationId xmlns:a16="http://schemas.microsoft.com/office/drawing/2014/main" id="{634F6A75-D807-47BD-80B7-83BEE6D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76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4" name="decide-title">
            <a:extLst xmlns:a="http://schemas.openxmlformats.org/drawingml/2006/main">
              <a:ext uri="{FF2B5EF4-FFF2-40B4-BE49-F238E27FC236}">
                <a16:creationId xmlns:a16="http://schemas.microsoft.com/office/drawing/2014/main" id="{7119F52E-F225-4D86-AE6E-D088A61C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3429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15" name="decide-body">
            <a:extLst xmlns:a="http://schemas.openxmlformats.org/drawingml/2006/main">
              <a:ext uri="{FF2B5EF4-FFF2-40B4-BE49-F238E27FC236}">
                <a16:creationId xmlns:a16="http://schemas.microsoft.com/office/drawing/2014/main" id="{833BC3B6-5F9E-41E2-8370-BE0CE21B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428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Trust it, question it, or ask an adult.</a:t>
            </a:r>
          </a:p>
        </p:txBody>
      </p:sp>
      <p:sp>
        <p:nvSpPr>
          <p:cNvPr id="16" name="method-recap">
            <a:extLst xmlns:a="http://schemas.openxmlformats.org/drawingml/2006/main">
              <a:ext uri="{FF2B5EF4-FFF2-40B4-BE49-F238E27FC236}">
                <a16:creationId xmlns:a16="http://schemas.microsoft.com/office/drawing/2014/main" id="{E6CEE4EB-9F37-4344-910D-D2FE5E7C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685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Pause • Inspect • Check • Decide</a:t>
            </a:r>
          </a:p>
        </p:txBody>
      </p:sp>
    </p:spTree>
    <p:extLst>
      <p:ext uri="{BB962C8B-B14F-4D97-AF65-F5344CB8AC3E}">
        <p14:creationId xmlns:p14="http://schemas.microsoft.com/office/powerpoint/2010/main" val="333243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camp-clue-sce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e357f92944f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hallenge-banner">
            <a:extLst xmlns:a="http://schemas.openxmlformats.org/drawingml/2006/main">
              <a:ext uri="{FF2B5EF4-FFF2-40B4-BE49-F238E27FC236}">
                <a16:creationId xmlns:a16="http://schemas.microsoft.com/office/drawing/2014/main" id="{874600D5-F76C-4BAE-95DF-F917F2BA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5750"/>
            <a:ext cx="5667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EE97D76D-0AE6-4916-BF09-548325F8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"/>
            <a:ext cx="509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CASE #1: SPOT 5 CLUES</a:t>
            </a:r>
          </a:p>
        </p:txBody>
      </p:sp>
      <p:sp>
        <p:nvSpPr>
          <p:cNvPr id="4" name="challenge-subtitle">
            <a:extLst xmlns:a="http://schemas.openxmlformats.org/drawingml/2006/main">
              <a:ext uri="{FF2B5EF4-FFF2-40B4-BE49-F238E27FC236}">
                <a16:creationId xmlns:a16="http://schemas.microsoft.com/office/drawing/2014/main" id="{6C2BFE3E-7B10-4CEA-B3E8-67FA0FD5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5095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Look closely. What feels impossible or inconsistent?</a:t>
            </a:r>
          </a:p>
        </p:txBody>
      </p:sp>
    </p:spTree>
    <p:extLst>
      <p:ext uri="{BB962C8B-B14F-4D97-AF65-F5344CB8AC3E}">
        <p14:creationId xmlns:p14="http://schemas.microsoft.com/office/powerpoint/2010/main" val="243874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341C404-C497-4448-98C3-BD7C1411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Odd details are clues—not automatic proof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FA8A4EE6-443C-41BE-B502-4DC222F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five-clues-label">
            <a:extLst xmlns:a="http://schemas.openxmlformats.org/drawingml/2006/main">
              <a:ext uri="{FF2B5EF4-FFF2-40B4-BE49-F238E27FC236}">
                <a16:creationId xmlns:a16="http://schemas.microsoft.com/office/drawing/2014/main" id="{429A02FA-F2F1-4F17-81D9-99FFE8D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FIVE CLUES</a:t>
            </a:r>
          </a:p>
        </p:txBody>
      </p:sp>
      <p:sp>
        <p:nvSpPr>
          <p:cNvPr id="4" name="five-clues">
            <a:extLst xmlns:a="http://schemas.openxmlformats.org/drawingml/2006/main">
              <a:ext uri="{FF2B5EF4-FFF2-40B4-BE49-F238E27FC236}">
                <a16:creationId xmlns:a16="http://schemas.microsoft.com/office/drawing/2014/main" id="{A4E2980C-BC5E-41B8-8287-F4F10C3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619125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  Six fingers
2  A square bicycle wheel
3  An impossibly bent sign
4  Mismatched raccoon paws
5  A canoe shadow going the wrong way</a:t>
            </a:r>
          </a:p>
        </p:txBody>
      </p:sp>
      <p:sp>
        <p:nvSpPr>
          <p:cNvPr id="5" name="interpret-panel">
            <a:extLst xmlns:a="http://schemas.openxmlformats.org/drawingml/2006/main">
              <a:ext uri="{FF2B5EF4-FFF2-40B4-BE49-F238E27FC236}">
                <a16:creationId xmlns:a16="http://schemas.microsoft.com/office/drawing/2014/main" id="{3E562800-B5C9-469A-9876-1E2FDDFF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43624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terpret-title">
            <a:extLst xmlns:a="http://schemas.openxmlformats.org/drawingml/2006/main">
              <a:ext uri="{FF2B5EF4-FFF2-40B4-BE49-F238E27FC236}">
                <a16:creationId xmlns:a16="http://schemas.microsoft.com/office/drawing/2014/main" id="{BC0F7DCD-8B2E-475D-B157-EF525F72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3667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Good detective thinking</a:t>
            </a:r>
          </a:p>
        </p:txBody>
      </p:sp>
      <p:sp>
        <p:nvSpPr>
          <p:cNvPr id="7" name="interpret-copy">
            <a:extLst xmlns:a="http://schemas.openxmlformats.org/drawingml/2006/main">
              <a:ext uri="{FF2B5EF4-FFF2-40B4-BE49-F238E27FC236}">
                <a16:creationId xmlns:a16="http://schemas.microsoft.com/office/drawing/2014/main" id="{C5AC322B-265E-4B38-BE05-68199FA1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3667125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“I noticed something odd.”
“I need another clue.”
“I’ll check before I claim.”</a:t>
            </a:r>
          </a:p>
        </p:txBody>
      </p:sp>
      <p:sp>
        <p:nvSpPr>
          <p:cNvPr id="8" name="reveal-takeaway">
            <a:extLst xmlns:a="http://schemas.openxmlformats.org/drawingml/2006/main">
              <a:ext uri="{FF2B5EF4-FFF2-40B4-BE49-F238E27FC236}">
                <a16:creationId xmlns:a16="http://schemas.microsoft.com/office/drawing/2014/main" id="{A57C2027-1FC2-4374-B6B1-7406BA80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62575"/>
            <a:ext cx="1000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Real photos can look strange too—because of angles, edits, or mistakes.</a:t>
            </a:r>
          </a:p>
        </p:txBody>
      </p:sp>
    </p:spTree>
    <p:extLst>
      <p:ext uri="{BB962C8B-B14F-4D97-AF65-F5344CB8AC3E}">
        <p14:creationId xmlns:p14="http://schemas.microsoft.com/office/powerpoint/2010/main" val="1661971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C29B601-EFC8-4EAF-9DD1-D370B161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CASE #2: A smooth answer can hide a false fact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A26DB095-BD0E-4698-BE8F-A99BEF1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answer-box">
            <a:extLst xmlns:a="http://schemas.openxmlformats.org/drawingml/2006/main">
              <a:ext uri="{FF2B5EF4-FFF2-40B4-BE49-F238E27FC236}">
                <a16:creationId xmlns:a16="http://schemas.microsoft.com/office/drawing/2014/main" id="{02E9F35E-5494-4D05-8EC6-F10E478F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6991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BD5722CD-9A25-4C66-86BC-EA0392D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AI ANSWER</a:t>
            </a:r>
          </a:p>
        </p:txBody>
      </p:sp>
      <p:sp>
        <p:nvSpPr>
          <p:cNvPr id="5" name="false-answer">
            <a:extLst xmlns:a="http://schemas.openxmlformats.org/drawingml/2006/main">
              <a:ext uri="{FF2B5EF4-FFF2-40B4-BE49-F238E27FC236}">
                <a16:creationId xmlns:a16="http://schemas.microsoft.com/office/drawing/2014/main" id="{A8C207C2-B3F5-47BB-B2F5-306FA3B3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62865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“Penguins live naturally at the North Pole, where they hunt beside polar bears.”</a:t>
            </a:r>
          </a:p>
        </p:txBody>
      </p:sp>
      <p:sp>
        <p:nvSpPr>
          <p:cNvPr id="6" name="moves-title">
            <a:extLst xmlns:a="http://schemas.openxmlformats.org/drawingml/2006/main">
              <a:ext uri="{FF2B5EF4-FFF2-40B4-BE49-F238E27FC236}">
                <a16:creationId xmlns:a16="http://schemas.microsoft.com/office/drawing/2014/main" id="{D076E842-5F3E-45A9-909B-FA0B83F4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390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Your detective moves</a:t>
            </a:r>
          </a:p>
        </p:txBody>
      </p:sp>
      <p:sp>
        <p:nvSpPr>
          <p:cNvPr id="7" name="moves-copy">
            <a:extLst xmlns:a="http://schemas.openxmlformats.org/drawingml/2006/main">
              <a:ext uri="{FF2B5EF4-FFF2-40B4-BE49-F238E27FC236}">
                <a16:creationId xmlns:a16="http://schemas.microsoft.com/office/drawing/2014/main" id="{6E16B126-6AF2-4002-B5E4-8678C99B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9052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  Circle the surprising claim
2  Ask: Who says so?
3  Check a trusted science source</a:t>
            </a:r>
          </a:p>
        </p:txBody>
      </p:sp>
      <p:sp>
        <p:nvSpPr>
          <p:cNvPr id="8" name="verdict">
            <a:extLst xmlns:a="http://schemas.openxmlformats.org/drawingml/2006/main">
              <a:ext uri="{FF2B5EF4-FFF2-40B4-BE49-F238E27FC236}">
                <a16:creationId xmlns:a16="http://schemas.microsoft.com/office/drawing/2014/main" id="{E82B046B-63CF-4947-907F-986F68E4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1057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Verdict: Penguins live naturally in the Southern Hemisphere—not with polar bears in the Arctic.</a:t>
            </a:r>
          </a:p>
        </p:txBody>
      </p:sp>
    </p:spTree>
    <p:extLst>
      <p:ext uri="{BB962C8B-B14F-4D97-AF65-F5344CB8AC3E}">
        <p14:creationId xmlns:p14="http://schemas.microsoft.com/office/powerpoint/2010/main" val="1474407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569BC06-B501-458D-90E7-3F5926F2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strongest check compares the claim with its source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41608EE5-7268-445D-AD15-C50125B4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" name="source-line">
            <a:extLst xmlns:a="http://schemas.openxmlformats.org/drawingml/2006/main">
              <a:ext uri="{FF2B5EF4-FFF2-40B4-BE49-F238E27FC236}">
                <a16:creationId xmlns:a16="http://schemas.microsoft.com/office/drawing/2014/main" id="{51D04D4C-4662-4661-BE00-2D5ABD72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ot-1">
            <a:extLst xmlns:a="http://schemas.openxmlformats.org/drawingml/2006/main">
              <a:ext uri="{FF2B5EF4-FFF2-40B4-BE49-F238E27FC236}">
                <a16:creationId xmlns:a16="http://schemas.microsoft.com/office/drawing/2014/main" id="{D5A6045C-556D-4F69-A821-433CC260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8C4E1970-00EB-4C80-AEA9-017AEA6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3">
            <a:extLst xmlns:a="http://schemas.openxmlformats.org/drawingml/2006/main">
              <a:ext uri="{FF2B5EF4-FFF2-40B4-BE49-F238E27FC236}">
                <a16:creationId xmlns:a16="http://schemas.microsoft.com/office/drawing/2014/main" id="{CDBB27DF-8FBD-40B6-A496-3D6AC578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ind-title">
            <a:extLst xmlns:a="http://schemas.openxmlformats.org/drawingml/2006/main">
              <a:ext uri="{FF2B5EF4-FFF2-40B4-BE49-F238E27FC236}">
                <a16:creationId xmlns:a16="http://schemas.microsoft.com/office/drawing/2014/main" id="{7117C197-F048-4C61-B399-C851DEA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FIND</a:t>
            </a:r>
          </a:p>
        </p:txBody>
      </p:sp>
      <p:sp>
        <p:nvSpPr>
          <p:cNvPr id="8" name="find-body">
            <a:extLst xmlns:a="http://schemas.openxmlformats.org/drawingml/2006/main">
              <a:ext uri="{FF2B5EF4-FFF2-40B4-BE49-F238E27FC236}">
                <a16:creationId xmlns:a16="http://schemas.microsoft.com/office/drawing/2014/main" id="{7B11AE4A-2C0F-4BCF-AB9D-3E974A72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86050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Where did it first appear?</a:t>
            </a:r>
          </a:p>
        </p:txBody>
      </p:sp>
      <p:sp>
        <p:nvSpPr>
          <p:cNvPr id="9" name="compare-title">
            <a:extLst xmlns:a="http://schemas.openxmlformats.org/drawingml/2006/main">
              <a:ext uri="{FF2B5EF4-FFF2-40B4-BE49-F238E27FC236}">
                <a16:creationId xmlns:a16="http://schemas.microsoft.com/office/drawing/2014/main" id="{F08B0DC6-CFBD-4C78-803E-3AAA415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</p:txBody>
      </p:sp>
      <p:sp>
        <p:nvSpPr>
          <p:cNvPr id="10" name="compare-body">
            <a:extLst xmlns:a="http://schemas.openxmlformats.org/drawingml/2006/main">
              <a:ext uri="{FF2B5EF4-FFF2-40B4-BE49-F238E27FC236}">
                <a16:creationId xmlns:a16="http://schemas.microsoft.com/office/drawing/2014/main" id="{ED58277B-88E5-467B-88EB-D83561D2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238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Do two reliable sources agree?</a:t>
            </a:r>
          </a:p>
        </p:txBody>
      </p:sp>
      <p:sp>
        <p:nvSpPr>
          <p:cNvPr id="11" name="ask-title">
            <a:extLst xmlns:a="http://schemas.openxmlformats.org/drawingml/2006/main">
              <a:ext uri="{FF2B5EF4-FFF2-40B4-BE49-F238E27FC236}">
                <a16:creationId xmlns:a16="http://schemas.microsoft.com/office/drawing/2014/main" id="{946BF74A-F3EF-4997-96C2-B50E9B06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ASK</a:t>
            </a:r>
          </a:p>
        </p:txBody>
      </p:sp>
      <p:sp>
        <p:nvSpPr>
          <p:cNvPr id="12" name="ask-body">
            <a:extLst xmlns:a="http://schemas.openxmlformats.org/drawingml/2006/main">
              <a:ext uri="{FF2B5EF4-FFF2-40B4-BE49-F238E27FC236}">
                <a16:creationId xmlns:a16="http://schemas.microsoft.com/office/drawing/2014/main" id="{594E1A01-B013-43DC-88E5-D4B2F7D4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333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Can a trusted adult or expert help?</a:t>
            </a:r>
          </a:p>
        </p:txBody>
      </p:sp>
      <p:sp>
        <p:nvSpPr>
          <p:cNvPr id="13" name="source-takeaway">
            <a:extLst xmlns:a="http://schemas.openxmlformats.org/drawingml/2006/main">
              <a:ext uri="{FF2B5EF4-FFF2-40B4-BE49-F238E27FC236}">
                <a16:creationId xmlns:a16="http://schemas.microsoft.com/office/drawing/2014/main" id="{F6749187-3F41-4516-A2C0-F1848BB5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106680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Best sources are close to the facts: camp staff for camp news, a museum for history, a science agency for science.</a:t>
            </a:r>
          </a:p>
        </p:txBody>
      </p:sp>
    </p:spTree>
    <p:extLst>
      <p:ext uri="{BB962C8B-B14F-4D97-AF65-F5344CB8AC3E}">
        <p14:creationId xmlns:p14="http://schemas.microsoft.com/office/powerpoint/2010/main" val="1005166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47FBA00-CAAA-4109-8824-B5C454A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people while you investigate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BF22B0A9-87CB-4D3D-BDF2-4A88F3B3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3" name="do-title">
            <a:extLst xmlns:a="http://schemas.openxmlformats.org/drawingml/2006/main">
              <a:ext uri="{FF2B5EF4-FFF2-40B4-BE49-F238E27FC236}">
                <a16:creationId xmlns:a16="http://schemas.microsoft.com/office/drawing/2014/main" id="{DDC8AD54-7834-4B44-9A10-DF88289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5238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DO</a:t>
            </a:r>
          </a:p>
        </p:txBody>
      </p:sp>
      <p:sp>
        <p:nvSpPr>
          <p:cNvPr id="4" name="do-list">
            <a:extLst xmlns:a="http://schemas.openxmlformats.org/drawingml/2006/main">
              <a:ext uri="{FF2B5EF4-FFF2-40B4-BE49-F238E27FC236}">
                <a16:creationId xmlns:a16="http://schemas.microsoft.com/office/drawing/2014/main" id="{34091711-2606-4D44-A5F1-E33DA0C8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53340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✓ Keep private details private
✓ Ask before sharing someone’s image
✓ Tell an adult about scary or harmful content</a:t>
            </a:r>
          </a:p>
        </p:txBody>
      </p:sp>
      <p:sp>
        <p:nvSpPr>
          <p:cNvPr id="5" name="safety-rule">
            <a:extLst xmlns:a="http://schemas.openxmlformats.org/drawingml/2006/main">
              <a:ext uri="{FF2B5EF4-FFF2-40B4-BE49-F238E27FC236}">
                <a16:creationId xmlns:a16="http://schemas.microsoft.com/office/drawing/2014/main" id="{E6D30981-B8F2-4B31-8B44-52221D3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nt-title">
            <a:extLst xmlns:a="http://schemas.openxmlformats.org/drawingml/2006/main">
              <a:ext uri="{FF2B5EF4-FFF2-40B4-BE49-F238E27FC236}">
                <a16:creationId xmlns:a16="http://schemas.microsoft.com/office/drawing/2014/main" id="{40717908-A9B0-4E61-99E5-795DEBD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DON’T</a:t>
            </a:r>
          </a:p>
        </p:txBody>
      </p:sp>
      <p:sp>
        <p:nvSpPr>
          <p:cNvPr id="7" name="dont-list">
            <a:extLst xmlns:a="http://schemas.openxmlformats.org/drawingml/2006/main">
              <a:ext uri="{FF2B5EF4-FFF2-40B4-BE49-F238E27FC236}">
                <a16:creationId xmlns:a16="http://schemas.microsoft.com/office/drawing/2014/main" id="{48C82F5E-3C3D-46D5-A7D0-A647D967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7625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× Upload faces, names, or locations
× Use fake media to embarrass someone
× Keep harmful content secret</a:t>
            </a:r>
          </a:p>
        </p:txBody>
      </p:sp>
      <p:sp>
        <p:nvSpPr>
          <p:cNvPr id="8" name="kindness-line">
            <a:extLst xmlns:a="http://schemas.openxmlformats.org/drawingml/2006/main">
              <a:ext uri="{FF2B5EF4-FFF2-40B4-BE49-F238E27FC236}">
                <a16:creationId xmlns:a16="http://schemas.microsoft.com/office/drawing/2014/main" id="{1EFADC3C-7C9F-4B00-BEE4-2D9E3455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857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Being a good detective also means being kind.</a:t>
            </a:r>
          </a:p>
        </p:txBody>
      </p:sp>
    </p:spTree>
    <p:extLst>
      <p:ext uri="{BB962C8B-B14F-4D97-AF65-F5344CB8AC3E}">
        <p14:creationId xmlns:p14="http://schemas.microsoft.com/office/powerpoint/2010/main" val="414900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ledge-eyebrow">
            <a:extLst xmlns:a="http://schemas.openxmlformats.org/drawingml/2006/main">
              <a:ext uri="{FF2B5EF4-FFF2-40B4-BE49-F238E27FC236}">
                <a16:creationId xmlns:a16="http://schemas.microsoft.com/office/drawing/2014/main" id="{B77D17B8-02EF-4C7F-9610-9B07B79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YOUR DETECTIVE PLEDGE</a:t>
            </a:r>
          </a:p>
        </p:txBody>
      </p:sp>
      <p:sp>
        <p:nvSpPr>
          <p:cNvPr id="2" name="pledge-title">
            <a:extLst xmlns:a="http://schemas.openxmlformats.org/drawingml/2006/main">
              <a:ext uri="{FF2B5EF4-FFF2-40B4-BE49-F238E27FC236}">
                <a16:creationId xmlns:a16="http://schemas.microsoft.com/office/drawing/2014/main" id="{52511348-6A3C-46AF-9A0C-6C280F3A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28700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Pause. Look closely.
Check before sharing.</a:t>
            </a:r>
          </a:p>
        </p:txBody>
      </p:sp>
      <p:sp>
        <p:nvSpPr>
          <p:cNvPr id="3" name="pledge-values">
            <a:extLst xmlns:a="http://schemas.openxmlformats.org/drawingml/2006/main">
              <a:ext uri="{FF2B5EF4-FFF2-40B4-BE49-F238E27FC236}">
                <a16:creationId xmlns:a16="http://schemas.microsoft.com/office/drawing/2014/main" id="{96A10315-AD24-420D-90CA-4DEC480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29175"/>
            <a:ext cx="781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8A3D"/>
                </a:solidFill>
                <a:latin typeface="Helvetica Neue"/>
                <a:ea typeface="Helvetica Neue"/>
                <a:cs typeface="Helvetica Neue"/>
              </a:defRPr>
            </a:pPr>
            <a:r>
              <a:t>Be curious • Be careful • Be kind</a:t>
            </a:r>
          </a:p>
        </p:txBody>
      </p:sp>
      <p:sp>
        <p:nvSpPr>
          <p:cNvPr id="4" name="pledge-question">
            <a:extLst xmlns:a="http://schemas.openxmlformats.org/drawingml/2006/main">
              <a:ext uri="{FF2B5EF4-FFF2-40B4-BE49-F238E27FC236}">
                <a16:creationId xmlns:a16="http://schemas.microsoft.com/office/drawing/2014/main" id="{76902484-5A23-41CB-B1F0-206B0961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26B"/>
                </a:solidFill>
                <a:latin typeface="Helvetica Neue"/>
                <a:ea typeface="Helvetica Neue"/>
                <a:cs typeface="Helvetica Neue"/>
              </a:defRPr>
            </a:pPr>
            <a:r>
              <a:t>Final question: What is the first move an AI detective makes?</a:t>
            </a:r>
          </a:p>
        </p:txBody>
      </p:sp>
    </p:spTree>
    <p:extLst>
      <p:ext uri="{BB962C8B-B14F-4D97-AF65-F5344CB8AC3E}">
        <p14:creationId xmlns:p14="http://schemas.microsoft.com/office/powerpoint/2010/main" val="584612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2026-07-14T22:51:28.2330000Z</dcterms:created>
  <dcterms:modified xsi:type="dcterms:W3CDTF">2026-07-14T22:51:28.2330000Z</dcterms:modified>
</coreProperties>
</file>